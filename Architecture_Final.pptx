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58aa96c2bd4fcd" /><Relationship Type="http://schemas.openxmlformats.org/officeDocument/2006/relationships/extended-properties" Target="/docProps/app.xml" Id="Rc5c09d4df6624470" /><Relationship Type="http://schemas.openxmlformats.org/officeDocument/2006/relationships/officeDocument" Target="/ppt/presentation.xml" Id="R7552d2b287a94b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e5c84c9e65466d"/>
  </p:sldMasterIdLst>
  <p:notesMasterIdLst>
    <p:notesMasterId xmlns:r="http://schemas.openxmlformats.org/officeDocument/2006/relationships" r:id="R5e4bd100437b4259"/>
  </p:notesMasterIdLst>
  <p:sldIdLst>
    <p:sldId xmlns:r="http://schemas.openxmlformats.org/officeDocument/2006/relationships" id="256" r:id="R53871c703c8646b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ce1c70750e4e63" /><Relationship Type="http://schemas.openxmlformats.org/officeDocument/2006/relationships/slideMaster" Target="/ppt/slideMasters/slideMaster1.xml" Id="R60e5c84c9e65466d" /><Relationship Type="http://schemas.openxmlformats.org/officeDocument/2006/relationships/notesMaster" Target="/ppt/notesMasters/notesMaster1.xml" Id="R5e4bd100437b4259" /><Relationship Type="http://schemas.openxmlformats.org/officeDocument/2006/relationships/presProps" Target="/ppt/presProps.xml" Id="R46296000f28b4284" /><Relationship Type="http://schemas.openxmlformats.org/officeDocument/2006/relationships/tableStyles" Target="/ppt/tableStyles.xml" Id="R992369467b324ff3" /><Relationship Type="http://schemas.openxmlformats.org/officeDocument/2006/relationships/slide" Target="/ppt/slides/slide1.xml" Id="R53871c703c8646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6e3450485a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e9a45740b434b" /><Relationship Type="http://schemas.openxmlformats.org/officeDocument/2006/relationships/notesMaster" Target="/ppt/notesMasters/notesMaster1.xml" Id="R0aa4f015b77c44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e680c85424f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4ef51b7f942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5ce519ae84e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341ee4de849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380d543be40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f28b45a9f48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C6102-B03A-4970-B466-2EBDC9E76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0C8A1F-CD7B-4941-A5D1-0750F5CCE8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4A0FBD-6596-4FD8-A37B-C9F4515AD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DAC0C5-2B27-41E9-AAFF-42A98682D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5D072E-4715-423B-B4E4-C7D310BAC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E5CC6F-ABB2-4D29-A83C-244AACD99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13B614-B2C8-4F8E-92C8-D991FBAA9C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EB7750-3E78-498D-A179-1E63E93D38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A51CC7-97FD-41F5-B71F-24491EC5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D7C006-5608-429B-93E4-2F5009C6D5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9a034938944625" /><Relationship Type="http://schemas.openxmlformats.org/officeDocument/2006/relationships/slideLayout" Target="/ppt/slideLayouts/slideLayout1.xml" Id="Rd73189a89b794743" /><Relationship Type="http://schemas.openxmlformats.org/officeDocument/2006/relationships/slideLayout" Target="/ppt/slideLayouts/slideLayout2.xml" Id="R606fbded1c6743b4" /><Relationship Type="http://schemas.openxmlformats.org/officeDocument/2006/relationships/slideLayout" Target="/ppt/slideLayouts/slideLayout3.xml" Id="Rbed801994814400c" /><Relationship Type="http://schemas.openxmlformats.org/officeDocument/2006/relationships/slideLayout" Target="/ppt/slideLayouts/slideLayout4.xml" Id="Rff6cf2b596c2443b" /><Relationship Type="http://schemas.openxmlformats.org/officeDocument/2006/relationships/slideLayout" Target="/ppt/slideLayouts/slideLayout5.xml" Id="R037eab98c1f14809" /><Relationship Type="http://schemas.openxmlformats.org/officeDocument/2006/relationships/slideLayout" Target="/ppt/slideLayouts/slideLayout6.xml" Id="Ra1a1af978ceb4b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3189a89b794743"/>
    <p:sldLayoutId xmlns:r="http://schemas.openxmlformats.org/officeDocument/2006/relationships" id="2147483650" r:id="R606fbded1c6743b4"/>
    <p:sldLayoutId xmlns:r="http://schemas.openxmlformats.org/officeDocument/2006/relationships" id="2147483651" r:id="Rbed801994814400c"/>
    <p:sldLayoutId xmlns:r="http://schemas.openxmlformats.org/officeDocument/2006/relationships" id="2147483652" r:id="Rff6cf2b596c2443b"/>
    <p:sldLayoutId xmlns:r="http://schemas.openxmlformats.org/officeDocument/2006/relationships" id="2147483653" r:id="R037eab98c1f14809"/>
    <p:sldLayoutId xmlns:r="http://schemas.openxmlformats.org/officeDocument/2006/relationships" id="2147483654" r:id="Ra1a1af978ceb4b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b952710cf4949" /><Relationship Type="http://schemas.openxmlformats.org/officeDocument/2006/relationships/notesSlide" Target="/ppt/notesSlides/notesSlide1.xml" Id="Rf805055fd26242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sources">
            <a:extLst xmlns:a="http://schemas.openxmlformats.org/drawingml/2006/main">
              <a:ext uri="{FF2B5EF4-FFF2-40B4-BE49-F238E27FC236}">
                <a16:creationId xmlns:a16="http://schemas.microsoft.com/office/drawing/2014/main" id="{EDE0AFA7-45C3-4497-A34D-D6EF8188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71500"/>
            <a:ext cx="2286000" cy="5429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9C8D7"/>
            </a:solidFill>
            <a:prstDash val="solid"/>
          </a:ln>
        </p:spPr>
      </p:sp>
      <p:sp>
        <p:nvSpPr>
          <p:cNvPr id="2" name="source-stock">
            <a:extLst xmlns:a="http://schemas.openxmlformats.org/drawingml/2006/main">
              <a:ext uri="{FF2B5EF4-FFF2-40B4-BE49-F238E27FC236}">
                <a16:creationId xmlns:a16="http://schemas.microsoft.com/office/drawing/2014/main" id="{8A7DC206-4F0A-4E6F-8C98-26AC267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19812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3" name="source-supplier">
            <a:extLst xmlns:a="http://schemas.openxmlformats.org/drawingml/2006/main">
              <a:ext uri="{FF2B5EF4-FFF2-40B4-BE49-F238E27FC236}">
                <a16:creationId xmlns:a16="http://schemas.microsoft.com/office/drawing/2014/main" id="{BC2D985A-E7A6-4373-BA90-5DD9E816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00250"/>
            <a:ext cx="19812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4" name="source-fleet">
            <a:extLst xmlns:a="http://schemas.openxmlformats.org/drawingml/2006/main">
              <a:ext uri="{FF2B5EF4-FFF2-40B4-BE49-F238E27FC236}">
                <a16:creationId xmlns:a16="http://schemas.microsoft.com/office/drawing/2014/main" id="{4D8D472F-EFB2-4D99-896F-92E9600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33700"/>
            <a:ext cx="19812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5" name="source-gis">
            <a:extLst xmlns:a="http://schemas.openxmlformats.org/drawingml/2006/main">
              <a:ext uri="{FF2B5EF4-FFF2-40B4-BE49-F238E27FC236}">
                <a16:creationId xmlns:a16="http://schemas.microsoft.com/office/drawing/2014/main" id="{65E1E031-B8F0-420E-A686-21F3B1BB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67150"/>
            <a:ext cx="19812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6" name="source-service">
            <a:extLst xmlns:a="http://schemas.openxmlformats.org/drawingml/2006/main">
              <a:ext uri="{FF2B5EF4-FFF2-40B4-BE49-F238E27FC236}">
                <a16:creationId xmlns:a16="http://schemas.microsoft.com/office/drawing/2014/main" id="{21A4BCFF-A475-434D-BDC4-D33784A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00600"/>
            <a:ext cx="19812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7" name="gateway">
            <a:extLst xmlns:a="http://schemas.openxmlformats.org/drawingml/2006/main">
              <a:ext uri="{FF2B5EF4-FFF2-40B4-BE49-F238E27FC236}">
                <a16:creationId xmlns:a16="http://schemas.microsoft.com/office/drawing/2014/main" id="{8EB34F70-BCE1-4F66-9470-ED25B20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0560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7DA6C8"/>
            </a:solidFill>
            <a:prstDash val="solid"/>
          </a:ln>
        </p:spPr>
      </p:sp>
      <p:sp>
        <p:nvSpPr>
          <p:cNvPr id="8" name="platform">
            <a:extLst xmlns:a="http://schemas.openxmlformats.org/drawingml/2006/main">
              <a:ext uri="{FF2B5EF4-FFF2-40B4-BE49-F238E27FC236}">
                <a16:creationId xmlns:a16="http://schemas.microsoft.com/office/drawing/2014/main" id="{DFAD44AE-47D6-4AF8-97A6-F4F43749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"/>
            <a:ext cx="10572750" cy="8448675"/>
          </a:xfrm>
          <a:prstGeom xmlns:a="http://schemas.openxmlformats.org/drawingml/2006/main" prst="roundRect">
            <a:avLst>
              <a:gd name="adj" fmla="val 1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9DAF"/>
            </a:solidFill>
            <a:prstDash val="solid"/>
          </a:ln>
        </p:spPr>
      </p:sp>
      <p:sp>
        <p:nvSpPr>
          <p:cNvPr id="9" name="integration">
            <a:extLst xmlns:a="http://schemas.openxmlformats.org/drawingml/2006/main">
              <a:ext uri="{FF2B5EF4-FFF2-40B4-BE49-F238E27FC236}">
                <a16:creationId xmlns:a16="http://schemas.microsoft.com/office/drawing/2014/main" id="{90C961FB-A3B6-48E5-B273-8DE512BC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81050"/>
            <a:ext cx="4210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79A5CB"/>
            </a:solidFill>
            <a:prstDash val="solid"/>
          </a:ln>
        </p:spPr>
      </p:sp>
      <p:sp>
        <p:nvSpPr>
          <p:cNvPr id="10" name="adapters">
            <a:extLst xmlns:a="http://schemas.openxmlformats.org/drawingml/2006/main">
              <a:ext uri="{FF2B5EF4-FFF2-40B4-BE49-F238E27FC236}">
                <a16:creationId xmlns:a16="http://schemas.microsoft.com/office/drawing/2014/main" id="{63051DE1-9AA3-4CCD-AC31-8CB649D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19200"/>
            <a:ext cx="38671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11" name="provenance">
            <a:extLst xmlns:a="http://schemas.openxmlformats.org/drawingml/2006/main">
              <a:ext uri="{FF2B5EF4-FFF2-40B4-BE49-F238E27FC236}">
                <a16:creationId xmlns:a16="http://schemas.microsoft.com/office/drawing/2014/main" id="{8C745D9A-5585-40DE-9A4B-B734F9DD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85925"/>
            <a:ext cx="38671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12" name="conflicts">
            <a:extLst xmlns:a="http://schemas.openxmlformats.org/drawingml/2006/main">
              <a:ext uri="{FF2B5EF4-FFF2-40B4-BE49-F238E27FC236}">
                <a16:creationId xmlns:a16="http://schemas.microsoft.com/office/drawing/2014/main" id="{5F98F0CB-2031-4DB1-80F8-7ECB73E0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2650"/>
            <a:ext cx="38671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13" name="state">
            <a:extLst xmlns:a="http://schemas.openxmlformats.org/drawingml/2006/main">
              <a:ext uri="{FF2B5EF4-FFF2-40B4-BE49-F238E27FC236}">
                <a16:creationId xmlns:a16="http://schemas.microsoft.com/office/drawing/2014/main" id="{EDBB8000-692D-4E96-BC3C-DDC7C916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81050"/>
            <a:ext cx="45148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79A5CB"/>
            </a:solidFill>
            <a:prstDash val="solid"/>
          </a:ln>
        </p:spPr>
      </p:sp>
      <p:sp>
        <p:nvSpPr>
          <p:cNvPr id="14" name="state-stock">
            <a:extLst xmlns:a="http://schemas.openxmlformats.org/drawingml/2006/main">
              <a:ext uri="{FF2B5EF4-FFF2-40B4-BE49-F238E27FC236}">
                <a16:creationId xmlns:a16="http://schemas.microsoft.com/office/drawing/2014/main" id="{89B94C06-50F6-4D46-B993-91238C1E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21920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15" name="state-arrivals">
            <a:extLst xmlns:a="http://schemas.openxmlformats.org/drawingml/2006/main">
              <a:ext uri="{FF2B5EF4-FFF2-40B4-BE49-F238E27FC236}">
                <a16:creationId xmlns:a16="http://schemas.microsoft.com/office/drawing/2014/main" id="{9B1F68E9-4E79-4BFE-A2E7-9D34AA0E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21920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16" name="state-network">
            <a:extLst xmlns:a="http://schemas.openxmlformats.org/drawingml/2006/main">
              <a:ext uri="{FF2B5EF4-FFF2-40B4-BE49-F238E27FC236}">
                <a16:creationId xmlns:a16="http://schemas.microsoft.com/office/drawing/2014/main" id="{70D905F9-74B8-4064-846A-972354C0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8595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17" name="state-confidence">
            <a:extLst xmlns:a="http://schemas.openxmlformats.org/drawingml/2006/main">
              <a:ext uri="{FF2B5EF4-FFF2-40B4-BE49-F238E27FC236}">
                <a16:creationId xmlns:a16="http://schemas.microsoft.com/office/drawing/2014/main" id="{2D882801-6722-460A-9D44-1D419587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885950"/>
            <a:ext cx="2000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18" name="backbone">
            <a:extLst xmlns:a="http://schemas.openxmlformats.org/drawingml/2006/main">
              <a:ext uri="{FF2B5EF4-FFF2-40B4-BE49-F238E27FC236}">
                <a16:creationId xmlns:a16="http://schemas.microsoft.com/office/drawing/2014/main" id="{33C36762-E258-4A71-90DF-FEC841B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99441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5FA"/>
          </a:solidFill>
          <a:ln xmlns:a="http://schemas.openxmlformats.org/drawingml/2006/main" w="14288">
            <a:solidFill>
              <a:srgbClr val="99A3BC"/>
            </a:solidFill>
            <a:prstDash val="solid"/>
          </a:ln>
        </p:spPr>
      </p:sp>
      <p:sp>
        <p:nvSpPr>
          <p:cNvPr id="19" name="prediction">
            <a:extLst xmlns:a="http://schemas.openxmlformats.org/drawingml/2006/main">
              <a:ext uri="{FF2B5EF4-FFF2-40B4-BE49-F238E27FC236}">
                <a16:creationId xmlns:a16="http://schemas.microsoft.com/office/drawing/2014/main" id="{5E40E66A-719B-4526-8B3B-6A8037CF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40195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9F8"/>
          </a:solidFill>
          <a:ln xmlns:a="http://schemas.openxmlformats.org/drawingml/2006/main" w="16193">
            <a:solidFill>
              <a:srgbClr val="70AEAF"/>
            </a:solidFill>
            <a:prstDash val="solid"/>
          </a:ln>
        </p:spPr>
      </p:sp>
      <p:sp>
        <p:nvSpPr>
          <p:cNvPr id="20" name="forecast-demand">
            <a:extLst xmlns:a="http://schemas.openxmlformats.org/drawingml/2006/main">
              <a:ext uri="{FF2B5EF4-FFF2-40B4-BE49-F238E27FC236}">
                <a16:creationId xmlns:a16="http://schemas.microsoft.com/office/drawing/2014/main" id="{8F3CBED3-A423-4898-9A3B-DF46B6A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4350"/>
            <a:ext cx="36766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1" name="forecast-access">
            <a:extLst xmlns:a="http://schemas.openxmlformats.org/drawingml/2006/main">
              <a:ext uri="{FF2B5EF4-FFF2-40B4-BE49-F238E27FC236}">
                <a16:creationId xmlns:a16="http://schemas.microsoft.com/office/drawing/2014/main" id="{B9037B3E-6A04-427C-89AF-15F4821C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6766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2" name="forecast-uncertainty">
            <a:extLst xmlns:a="http://schemas.openxmlformats.org/drawingml/2006/main">
              <a:ext uri="{FF2B5EF4-FFF2-40B4-BE49-F238E27FC236}">
                <a16:creationId xmlns:a16="http://schemas.microsoft.com/office/drawing/2014/main" id="{20973F0E-5610-462E-9D28-8D096A75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91150"/>
            <a:ext cx="36766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3" name="scenario">
            <a:extLst xmlns:a="http://schemas.openxmlformats.org/drawingml/2006/main">
              <a:ext uri="{FF2B5EF4-FFF2-40B4-BE49-F238E27FC236}">
                <a16:creationId xmlns:a16="http://schemas.microsoft.com/office/drawing/2014/main" id="{D9DDF7CA-D379-4386-9CF2-8262534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4667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9F8"/>
          </a:solidFill>
          <a:ln xmlns:a="http://schemas.openxmlformats.org/drawingml/2006/main" w="16193">
            <a:solidFill>
              <a:srgbClr val="70AEAF"/>
            </a:solidFill>
            <a:prstDash val="solid"/>
          </a:ln>
        </p:spPr>
      </p:sp>
      <p:sp>
        <p:nvSpPr>
          <p:cNvPr id="24" name="dependencies">
            <a:extLst xmlns:a="http://schemas.openxmlformats.org/drawingml/2006/main">
              <a:ext uri="{FF2B5EF4-FFF2-40B4-BE49-F238E27FC236}">
                <a16:creationId xmlns:a16="http://schemas.microsoft.com/office/drawing/2014/main" id="{8E1FF6BF-DE70-4F71-9A71-D1A91834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24350"/>
            <a:ext cx="2095500" cy="50482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5" name="propagation">
            <a:extLst xmlns:a="http://schemas.openxmlformats.org/drawingml/2006/main">
              <a:ext uri="{FF2B5EF4-FFF2-40B4-BE49-F238E27FC236}">
                <a16:creationId xmlns:a16="http://schemas.microsoft.com/office/drawing/2014/main" id="{F8B3BBE3-99D2-4E6F-8DD6-6F22F94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324350"/>
            <a:ext cx="2095500" cy="50482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6" name="endurance">
            <a:extLst xmlns:a="http://schemas.openxmlformats.org/drawingml/2006/main">
              <a:ext uri="{FF2B5EF4-FFF2-40B4-BE49-F238E27FC236}">
                <a16:creationId xmlns:a16="http://schemas.microsoft.com/office/drawing/2014/main" id="{8FA55121-E0AF-4762-B855-7D7DED57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53000"/>
            <a:ext cx="2095500" cy="50482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7" name="stress">
            <a:extLst xmlns:a="http://schemas.openxmlformats.org/drawingml/2006/main">
              <a:ext uri="{FF2B5EF4-FFF2-40B4-BE49-F238E27FC236}">
                <a16:creationId xmlns:a16="http://schemas.microsoft.com/office/drawing/2014/main" id="{C90BB1C7-4383-420D-B5D5-3F132FA4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53000"/>
            <a:ext cx="2095500" cy="50482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8" name="fuel">
            <a:extLst xmlns:a="http://schemas.openxmlformats.org/drawingml/2006/main">
              <a:ext uri="{FF2B5EF4-FFF2-40B4-BE49-F238E27FC236}">
                <a16:creationId xmlns:a16="http://schemas.microsoft.com/office/drawing/2014/main" id="{59632A63-EAF5-4E8F-B874-98AC82A7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72150"/>
            <a:ext cx="8953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29" name="power">
            <a:extLst xmlns:a="http://schemas.openxmlformats.org/drawingml/2006/main">
              <a:ext uri="{FF2B5EF4-FFF2-40B4-BE49-F238E27FC236}">
                <a16:creationId xmlns:a16="http://schemas.microsoft.com/office/drawing/2014/main" id="{DE6515B9-AE2C-49E9-A2DE-5BDCD43A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772150"/>
            <a:ext cx="100012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30" name="cold">
            <a:extLst xmlns:a="http://schemas.openxmlformats.org/drawingml/2006/main">
              <a:ext uri="{FF2B5EF4-FFF2-40B4-BE49-F238E27FC236}">
                <a16:creationId xmlns:a16="http://schemas.microsoft.com/office/drawing/2014/main" id="{F33EEDAC-3EE5-46D5-9A47-D07FAB38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772150"/>
            <a:ext cx="1438275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31" name="decision">
            <a:extLst xmlns:a="http://schemas.openxmlformats.org/drawingml/2006/main">
              <a:ext uri="{FF2B5EF4-FFF2-40B4-BE49-F238E27FC236}">
                <a16:creationId xmlns:a16="http://schemas.microsoft.com/office/drawing/2014/main" id="{047597FD-510E-4DD9-89A1-BC9C1D9B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838950"/>
            <a:ext cx="99441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16193">
            <a:solidFill>
              <a:srgbClr val="CAA363"/>
            </a:solidFill>
            <a:prstDash val="solid"/>
          </a:ln>
        </p:spPr>
      </p:sp>
      <p:sp>
        <p:nvSpPr>
          <p:cNvPr id="32" name="resupply">
            <a:extLst xmlns:a="http://schemas.openxmlformats.org/drawingml/2006/main">
              <a:ext uri="{FF2B5EF4-FFF2-40B4-BE49-F238E27FC236}">
                <a16:creationId xmlns:a16="http://schemas.microsoft.com/office/drawing/2014/main" id="{3B1DC17A-51AF-4C7E-935B-FF8A896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7258050"/>
            <a:ext cx="31242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B77F"/>
            </a:solidFill>
            <a:prstDash val="solid"/>
          </a:ln>
        </p:spPr>
      </p:sp>
      <p:sp>
        <p:nvSpPr>
          <p:cNvPr id="33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0C254EBE-44A2-4425-B3DC-EC01B7F7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258050"/>
            <a:ext cx="31242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B77F"/>
            </a:solidFill>
            <a:prstDash val="solid"/>
          </a:ln>
        </p:spPr>
      </p:sp>
      <p:sp>
        <p:nvSpPr>
          <p:cNvPr id="34" name="recovery">
            <a:extLst xmlns:a="http://schemas.openxmlformats.org/drawingml/2006/main">
              <a:ext uri="{FF2B5EF4-FFF2-40B4-BE49-F238E27FC236}">
                <a16:creationId xmlns:a16="http://schemas.microsoft.com/office/drawing/2014/main" id="{47676587-6CD3-4E25-BAA5-95776AF3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258050"/>
            <a:ext cx="31242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B77F"/>
            </a:solidFill>
            <a:prstDash val="solid"/>
          </a:ln>
        </p:spPr>
      </p:sp>
      <p:sp>
        <p:nvSpPr>
          <p:cNvPr id="35" name="plan">
            <a:extLst xmlns:a="http://schemas.openxmlformats.org/drawingml/2006/main">
              <a:ext uri="{FF2B5EF4-FFF2-40B4-BE49-F238E27FC236}">
                <a16:creationId xmlns:a16="http://schemas.microsoft.com/office/drawing/2014/main" id="{F91C25BD-F8DC-4BEF-B404-5E47D439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71500"/>
            <a:ext cx="3429000" cy="48196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6193">
            <a:solidFill>
              <a:srgbClr val="8B9CAB"/>
            </a:solidFill>
            <a:prstDash val="solid"/>
          </a:ln>
        </p:spPr>
      </p:sp>
      <p:sp>
        <p:nvSpPr>
          <p:cNvPr id="36" name="proposal">
            <a:extLst xmlns:a="http://schemas.openxmlformats.org/drawingml/2006/main">
              <a:ext uri="{FF2B5EF4-FFF2-40B4-BE49-F238E27FC236}">
                <a16:creationId xmlns:a16="http://schemas.microsoft.com/office/drawing/2014/main" id="{DBE76887-381C-48DB-B1FF-D420A595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1524000"/>
            <a:ext cx="30861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37" name="compare">
            <a:extLst xmlns:a="http://schemas.openxmlformats.org/drawingml/2006/main">
              <a:ext uri="{FF2B5EF4-FFF2-40B4-BE49-F238E27FC236}">
                <a16:creationId xmlns:a16="http://schemas.microsoft.com/office/drawing/2014/main" id="{4B7DEA77-0111-4CDA-B7EE-402FA3F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2476500"/>
            <a:ext cx="30861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38" name="approval">
            <a:extLst xmlns:a="http://schemas.openxmlformats.org/drawingml/2006/main">
              <a:ext uri="{FF2B5EF4-FFF2-40B4-BE49-F238E27FC236}">
                <a16:creationId xmlns:a16="http://schemas.microsoft.com/office/drawing/2014/main" id="{336B499E-4510-4855-A0BE-5DF26F5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3429000"/>
            <a:ext cx="30861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39" name="approved">
            <a:extLst xmlns:a="http://schemas.openxmlformats.org/drawingml/2006/main">
              <a:ext uri="{FF2B5EF4-FFF2-40B4-BE49-F238E27FC236}">
                <a16:creationId xmlns:a16="http://schemas.microsoft.com/office/drawing/2014/main" id="{FCA41C79-06F5-4E07-9C29-9A310C0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4381500"/>
            <a:ext cx="30861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40" name="execution">
            <a:extLst xmlns:a="http://schemas.openxmlformats.org/drawingml/2006/main">
              <a:ext uri="{FF2B5EF4-FFF2-40B4-BE49-F238E27FC236}">
                <a16:creationId xmlns:a16="http://schemas.microsoft.com/office/drawing/2014/main" id="{29599618-77DF-4282-AC37-24A1E5D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134100"/>
            <a:ext cx="34290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6193">
            <a:solidFill>
              <a:srgbClr val="8B9CAB"/>
            </a:solidFill>
            <a:prstDash val="solid"/>
          </a:ln>
        </p:spPr>
      </p:sp>
      <p:sp>
        <p:nvSpPr>
          <p:cNvPr id="41" name="reserve">
            <a:extLst xmlns:a="http://schemas.openxmlformats.org/drawingml/2006/main">
              <a:ext uri="{FF2B5EF4-FFF2-40B4-BE49-F238E27FC236}">
                <a16:creationId xmlns:a16="http://schemas.microsoft.com/office/drawing/2014/main" id="{A1D6E9D4-2059-47C4-AAC0-7A093972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6638925"/>
            <a:ext cx="30861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42" name="dispatch">
            <a:extLst xmlns:a="http://schemas.openxmlformats.org/drawingml/2006/main">
              <a:ext uri="{FF2B5EF4-FFF2-40B4-BE49-F238E27FC236}">
                <a16:creationId xmlns:a16="http://schemas.microsoft.com/office/drawing/2014/main" id="{8F79D117-8E93-4880-B208-BF38CAA6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7181850"/>
            <a:ext cx="30861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43" name="exceptions">
            <a:extLst xmlns:a="http://schemas.openxmlformats.org/drawingml/2006/main">
              <a:ext uri="{FF2B5EF4-FFF2-40B4-BE49-F238E27FC236}">
                <a16:creationId xmlns:a16="http://schemas.microsoft.com/office/drawing/2014/main" id="{6EE6536F-8B51-43DE-9700-C2FF0DCA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7724775"/>
            <a:ext cx="30861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8D7"/>
            </a:solidFill>
            <a:prstDash val="solid"/>
          </a:ln>
        </p:spPr>
      </p:sp>
      <p:sp>
        <p:nvSpPr>
          <p:cNvPr id="44" name="operational-stores">
            <a:extLst xmlns:a="http://schemas.openxmlformats.org/drawingml/2006/main">
              <a:ext uri="{FF2B5EF4-FFF2-40B4-BE49-F238E27FC236}">
                <a16:creationId xmlns:a16="http://schemas.microsoft.com/office/drawing/2014/main" id="{77F8D999-03B2-4A1A-A2A5-9608B653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124950"/>
            <a:ext cx="104775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383">
            <a:solidFill>
              <a:srgbClr val="B9C8D7"/>
            </a:solidFill>
            <a:prstDash val="solid"/>
          </a:ln>
        </p:spPr>
      </p:sp>
      <p:sp>
        <p:nvSpPr>
          <p:cNvPr id="45" name="plan-store">
            <a:extLst xmlns:a="http://schemas.openxmlformats.org/drawingml/2006/main">
              <a:ext uri="{FF2B5EF4-FFF2-40B4-BE49-F238E27FC236}">
                <a16:creationId xmlns:a16="http://schemas.microsoft.com/office/drawing/2014/main" id="{445F8D56-E46F-4B07-AE3F-36ACA514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9124950"/>
            <a:ext cx="34290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383">
            <a:solidFill>
              <a:srgbClr val="B9C8D7"/>
            </a:solidFill>
            <a:prstDash val="solid"/>
          </a:ln>
        </p:spPr>
      </p:sp>
      <p:sp>
        <p:nvSpPr>
          <p:cNvPr id="46" name="ledger">
            <a:extLst xmlns:a="http://schemas.openxmlformats.org/drawingml/2006/main">
              <a:ext uri="{FF2B5EF4-FFF2-40B4-BE49-F238E27FC236}">
                <a16:creationId xmlns:a16="http://schemas.microsoft.com/office/drawing/2014/main" id="{802F371A-E5C9-4805-BC85-EFCB04E1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429750"/>
            <a:ext cx="312420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D7"/>
            </a:solidFill>
            <a:prstDash val="solid"/>
          </a:ln>
        </p:spPr>
      </p:sp>
      <p:sp>
        <p:nvSpPr>
          <p:cNvPr id="47" name="spatial">
            <a:extLst xmlns:a="http://schemas.openxmlformats.org/drawingml/2006/main">
              <a:ext uri="{FF2B5EF4-FFF2-40B4-BE49-F238E27FC236}">
                <a16:creationId xmlns:a16="http://schemas.microsoft.com/office/drawing/2014/main" id="{2E7B440D-FE2A-42D6-987E-1F54F04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429750"/>
            <a:ext cx="337185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D7"/>
            </a:solidFill>
            <a:prstDash val="solid"/>
          </a:ln>
        </p:spPr>
      </p:sp>
      <p:sp>
        <p:nvSpPr>
          <p:cNvPr id="48" name="history">
            <a:extLst xmlns:a="http://schemas.openxmlformats.org/drawingml/2006/main">
              <a:ext uri="{FF2B5EF4-FFF2-40B4-BE49-F238E27FC236}">
                <a16:creationId xmlns:a16="http://schemas.microsoft.com/office/drawing/2014/main" id="{6138AF37-FF50-4C15-8B92-A7411FC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9429750"/>
            <a:ext cx="329565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D7"/>
            </a:solidFill>
            <a:prstDash val="solid"/>
          </a:ln>
        </p:spPr>
      </p:sp>
      <p:sp>
        <p:nvSpPr>
          <p:cNvPr id="49" name="plan-history">
            <a:extLst xmlns:a="http://schemas.openxmlformats.org/drawingml/2006/main">
              <a:ext uri="{FF2B5EF4-FFF2-40B4-BE49-F238E27FC236}">
                <a16:creationId xmlns:a16="http://schemas.microsoft.com/office/drawing/2014/main" id="{32805E8D-2A1E-4B68-A838-25DEB8A7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9429750"/>
            <a:ext cx="308610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C8D7"/>
            </a:solidFill>
            <a:prstDash val="solid"/>
          </a:ln>
        </p:spPr>
      </p:sp>
      <p:sp>
        <p:nvSpPr>
          <p:cNvPr id="50" name="security-strip">
            <a:extLst xmlns:a="http://schemas.openxmlformats.org/drawingml/2006/main">
              <a:ext uri="{FF2B5EF4-FFF2-40B4-BE49-F238E27FC236}">
                <a16:creationId xmlns:a16="http://schemas.microsoft.com/office/drawing/2014/main" id="{AF55C7E5-6A2F-45A7-8293-3600EED2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972675"/>
            <a:ext cx="1485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ource-adapters">
            <a:extLst xmlns:a="http://schemas.openxmlformats.org/drawingml/2006/main">
              <a:ext uri="{FF2B5EF4-FFF2-40B4-BE49-F238E27FC236}">
                <a16:creationId xmlns:a16="http://schemas.microsoft.com/office/drawing/2014/main" id="{197E33B3-1346-4CAF-9120-81D80F67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1104900" cy="9525"/>
          </a:xfrm>
          <a:custGeom xmlns:a="http://schemas.openxmlformats.org/drawingml/2006/main">
            <a:pathLst>
              <a:path w="1104900" h="9525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52" name="source-adapters-arrow">
            <a:extLst xmlns:a="http://schemas.openxmlformats.org/drawingml/2006/main">
              <a:ext uri="{FF2B5EF4-FFF2-40B4-BE49-F238E27FC236}">
                <a16:creationId xmlns:a16="http://schemas.microsoft.com/office/drawing/2014/main" id="{8B7508C5-1C78-4E20-B552-D9E598BB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24013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53" name="field-capture">
            <a:extLst xmlns:a="http://schemas.openxmlformats.org/drawingml/2006/main">
              <a:ext uri="{FF2B5EF4-FFF2-40B4-BE49-F238E27FC236}">
                <a16:creationId xmlns:a16="http://schemas.microsoft.com/office/drawing/2014/main" id="{1D36DF5E-BADB-4D35-A549-4C38C0C9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9525" cy="704850"/>
          </a:xfrm>
          <a:custGeom xmlns:a="http://schemas.openxmlformats.org/drawingml/2006/main"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54" name="field-capture-arrow">
            <a:extLst xmlns:a="http://schemas.openxmlformats.org/drawingml/2006/main">
              <a:ext uri="{FF2B5EF4-FFF2-40B4-BE49-F238E27FC236}">
                <a16:creationId xmlns:a16="http://schemas.microsoft.com/office/drawing/2014/main" id="{95A0A851-8F7A-4ECC-9A8F-8867A6C9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661987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55" name="field-sync">
            <a:extLst xmlns:a="http://schemas.openxmlformats.org/drawingml/2006/main">
              <a:ext uri="{FF2B5EF4-FFF2-40B4-BE49-F238E27FC236}">
                <a16:creationId xmlns:a16="http://schemas.microsoft.com/office/drawing/2014/main" id="{A97E9A8C-97F6-425C-B127-4FBC263B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104900" cy="5210175"/>
          </a:xfrm>
          <a:custGeom xmlns:a="http://schemas.openxmlformats.org/drawingml/2006/main">
            <a:pathLst>
              <a:path w="1104900" h="5210175">
                <a:moveTo>
                  <a:pt x="0" y="5210175"/>
                </a:moveTo>
                <a:lnTo>
                  <a:pt x="381000" y="5210175"/>
                </a:lnTo>
                <a:lnTo>
                  <a:pt x="381000" y="0"/>
                </a:lnTo>
                <a:lnTo>
                  <a:pt x="110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56" name="field-sync-arrow">
            <a:extLst xmlns:a="http://schemas.openxmlformats.org/drawingml/2006/main">
              <a:ext uri="{FF2B5EF4-FFF2-40B4-BE49-F238E27FC236}">
                <a16:creationId xmlns:a16="http://schemas.microsoft.com/office/drawing/2014/main" id="{13AC2FC0-20EB-4C67-A97A-EAE7B7E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47888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57" name="validated-events">
            <a:extLst xmlns:a="http://schemas.openxmlformats.org/drawingml/2006/main">
              <a:ext uri="{FF2B5EF4-FFF2-40B4-BE49-F238E27FC236}">
                <a16:creationId xmlns:a16="http://schemas.microsoft.com/office/drawing/2014/main" id="{1F5A0EA2-D453-43D6-934F-F7F076A8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66875"/>
            <a:ext cx="1219200" cy="9525"/>
          </a:xfrm>
          <a:custGeom xmlns:a="http://schemas.openxmlformats.org/drawingml/2006/main"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58" name="validated-events-arrow">
            <a:extLst xmlns:a="http://schemas.openxmlformats.org/drawingml/2006/main">
              <a:ext uri="{FF2B5EF4-FFF2-40B4-BE49-F238E27FC236}">
                <a16:creationId xmlns:a16="http://schemas.microsoft.com/office/drawing/2014/main" id="{15403493-B61F-4A83-8059-7AFE8D2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24013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59" name="state-changes">
            <a:extLst xmlns:a="http://schemas.openxmlformats.org/drawingml/2006/main">
              <a:ext uri="{FF2B5EF4-FFF2-40B4-BE49-F238E27FC236}">
                <a16:creationId xmlns:a16="http://schemas.microsoft.com/office/drawing/2014/main" id="{E07A3B16-731C-46EC-93E4-B272CCF8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628900"/>
            <a:ext cx="9525" cy="342900"/>
          </a:xfrm>
          <a:custGeom xmlns:a="http://schemas.openxmlformats.org/drawingml/2006/main"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9D"/>
            </a:solidFill>
            <a:prstDash val="dash"/>
          </a:ln>
        </p:spPr>
      </p:sp>
      <p:sp>
        <p:nvSpPr>
          <p:cNvPr id="60" name="state-changes-arrow">
            <a:extLst xmlns:a="http://schemas.openxmlformats.org/drawingml/2006/main">
              <a:ext uri="{FF2B5EF4-FFF2-40B4-BE49-F238E27FC236}">
                <a16:creationId xmlns:a16="http://schemas.microsoft.com/office/drawing/2014/main" id="{F20F04DA-2B61-433F-A024-78B3CB9C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5213" y="288607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64749D"/>
          </a:solidFill>
          <a:ln xmlns:a="http://schemas.openxmlformats.org/drawingml/2006/main" w="0">
            <a:solidFill>
              <a:srgbClr val="64749D"/>
            </a:solidFill>
            <a:prstDash val="solid"/>
          </a:ln>
        </p:spPr>
      </p:sp>
      <p:sp>
        <p:nvSpPr>
          <p:cNvPr id="61" name="prediction-state">
            <a:extLst xmlns:a="http://schemas.openxmlformats.org/drawingml/2006/main">
              <a:ext uri="{FF2B5EF4-FFF2-40B4-BE49-F238E27FC236}">
                <a16:creationId xmlns:a16="http://schemas.microsoft.com/office/drawing/2014/main" id="{BFEE49AA-A886-4263-9A74-5099F0A2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52800"/>
            <a:ext cx="2124075" cy="552450"/>
          </a:xfrm>
          <a:custGeom xmlns:a="http://schemas.openxmlformats.org/drawingml/2006/main">
            <a:pathLst>
              <a:path w="2124075" h="552450">
                <a:moveTo>
                  <a:pt x="2124075" y="0"/>
                </a:moveTo>
                <a:lnTo>
                  <a:pt x="2124075" y="266700"/>
                </a:lnTo>
                <a:lnTo>
                  <a:pt x="0" y="266700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62" name="prediction-state-arrow">
            <a:extLst xmlns:a="http://schemas.openxmlformats.org/drawingml/2006/main">
              <a:ext uri="{FF2B5EF4-FFF2-40B4-BE49-F238E27FC236}">
                <a16:creationId xmlns:a16="http://schemas.microsoft.com/office/drawing/2014/main" id="{E2764CD5-2839-4AE0-A4D0-2842124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381952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63" name="scenario-state">
            <a:extLst xmlns:a="http://schemas.openxmlformats.org/drawingml/2006/main">
              <a:ext uri="{FF2B5EF4-FFF2-40B4-BE49-F238E27FC236}">
                <a16:creationId xmlns:a16="http://schemas.microsoft.com/office/drawing/2014/main" id="{2CE22C4E-E0AB-4A1F-90DE-13B31847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3476625" cy="552450"/>
          </a:xfrm>
          <a:custGeom xmlns:a="http://schemas.openxmlformats.org/drawingml/2006/main">
            <a:pathLst>
              <a:path w="3476625" h="552450">
                <a:moveTo>
                  <a:pt x="0" y="0"/>
                </a:moveTo>
                <a:lnTo>
                  <a:pt x="0" y="266700"/>
                </a:lnTo>
                <a:lnTo>
                  <a:pt x="3476625" y="266700"/>
                </a:lnTo>
                <a:lnTo>
                  <a:pt x="3476625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64" name="scenario-state-arrow">
            <a:extLst xmlns:a="http://schemas.openxmlformats.org/drawingml/2006/main">
              <a:ext uri="{FF2B5EF4-FFF2-40B4-BE49-F238E27FC236}">
                <a16:creationId xmlns:a16="http://schemas.microsoft.com/office/drawing/2014/main" id="{53972F9E-B66C-4663-8340-C7515966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381952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65" name="reassessment">
            <a:extLst xmlns:a="http://schemas.openxmlformats.org/drawingml/2006/main">
              <a:ext uri="{FF2B5EF4-FFF2-40B4-BE49-F238E27FC236}">
                <a16:creationId xmlns:a16="http://schemas.microsoft.com/office/drawing/2014/main" id="{2AC0E33A-9CA9-4D84-84E3-94E607BE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209550" cy="3981450"/>
          </a:xfrm>
          <a:custGeom xmlns:a="http://schemas.openxmlformats.org/drawingml/2006/main">
            <a:pathLst>
              <a:path w="209550" h="3981450">
                <a:moveTo>
                  <a:pt x="209550" y="0"/>
                </a:moveTo>
                <a:lnTo>
                  <a:pt x="0" y="0"/>
                </a:lnTo>
                <a:lnTo>
                  <a:pt x="0" y="3981450"/>
                </a:lnTo>
                <a:lnTo>
                  <a:pt x="209550" y="3981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9D"/>
            </a:solidFill>
            <a:prstDash val="dash"/>
          </a:ln>
        </p:spPr>
      </p:sp>
      <p:sp>
        <p:nvSpPr>
          <p:cNvPr id="66" name="reassessment-arrow">
            <a:extLst xmlns:a="http://schemas.openxmlformats.org/drawingml/2006/main">
              <a:ext uri="{FF2B5EF4-FFF2-40B4-BE49-F238E27FC236}">
                <a16:creationId xmlns:a16="http://schemas.microsoft.com/office/drawing/2014/main" id="{713C84CB-8FC8-4B54-A626-29826A1D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7100888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749D"/>
          </a:solidFill>
          <a:ln xmlns:a="http://schemas.openxmlformats.org/drawingml/2006/main" w="0">
            <a:solidFill>
              <a:srgbClr val="64749D"/>
            </a:solidFill>
            <a:prstDash val="solid"/>
          </a:ln>
        </p:spPr>
      </p:sp>
      <p:sp>
        <p:nvSpPr>
          <p:cNvPr id="67" name="forecast-scenarios">
            <a:extLst xmlns:a="http://schemas.openxmlformats.org/drawingml/2006/main">
              <a:ext uri="{FF2B5EF4-FFF2-40B4-BE49-F238E27FC236}">
                <a16:creationId xmlns:a16="http://schemas.microsoft.com/office/drawing/2014/main" id="{FF1254A9-8C70-4B3C-9F80-1289B5F6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14925"/>
            <a:ext cx="1257300" cy="9525"/>
          </a:xfrm>
          <a:custGeom xmlns:a="http://schemas.openxmlformats.org/drawingml/2006/main">
            <a:pathLst>
              <a:path w="1257300" h="9525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68" name="forecast-scenarios-arrow">
            <a:extLst xmlns:a="http://schemas.openxmlformats.org/drawingml/2006/main">
              <a:ext uri="{FF2B5EF4-FFF2-40B4-BE49-F238E27FC236}">
                <a16:creationId xmlns:a16="http://schemas.microsoft.com/office/drawing/2014/main" id="{3B6596B9-1001-42A0-996D-6DCA7CA2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072063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69" name="forecast-plan">
            <a:extLst xmlns:a="http://schemas.openxmlformats.org/drawingml/2006/main">
              <a:ext uri="{FF2B5EF4-FFF2-40B4-BE49-F238E27FC236}">
                <a16:creationId xmlns:a16="http://schemas.microsoft.com/office/drawing/2014/main" id="{4A43901F-3069-4E24-9E2E-134091BA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6096000"/>
            <a:ext cx="9525" cy="742950"/>
          </a:xfrm>
          <a:custGeom xmlns:a="http://schemas.openxmlformats.org/drawingml/2006/main">
            <a:pathLst>
              <a:path w="952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70" name="forecast-plan-arrow">
            <a:extLst xmlns:a="http://schemas.openxmlformats.org/drawingml/2006/main">
              <a:ext uri="{FF2B5EF4-FFF2-40B4-BE49-F238E27FC236}">
                <a16:creationId xmlns:a16="http://schemas.microsoft.com/office/drawing/2014/main" id="{2C386C62-53F7-49C1-8A7D-216EC750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675322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71" name="scenario-outcome">
            <a:extLst xmlns:a="http://schemas.openxmlformats.org/drawingml/2006/main">
              <a:ext uri="{FF2B5EF4-FFF2-40B4-BE49-F238E27FC236}">
                <a16:creationId xmlns:a16="http://schemas.microsoft.com/office/drawing/2014/main" id="{97255C13-F82F-44D8-9D27-FC10969F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9525" cy="742950"/>
          </a:xfrm>
          <a:custGeom xmlns:a="http://schemas.openxmlformats.org/drawingml/2006/main">
            <a:pathLst>
              <a:path w="952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A7F83"/>
            </a:solidFill>
            <a:prstDash val="solid"/>
          </a:ln>
        </p:spPr>
      </p:sp>
      <p:sp>
        <p:nvSpPr>
          <p:cNvPr id="72" name="scenario-outcome-arrow">
            <a:extLst xmlns:a="http://schemas.openxmlformats.org/drawingml/2006/main">
              <a:ext uri="{FF2B5EF4-FFF2-40B4-BE49-F238E27FC236}">
                <a16:creationId xmlns:a16="http://schemas.microsoft.com/office/drawing/2014/main" id="{E14AB87B-59F8-406E-B7D6-D9C405E1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8" y="675322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0A7F83"/>
          </a:solidFill>
          <a:ln xmlns:a="http://schemas.openxmlformats.org/drawingml/2006/main" w="0">
            <a:solidFill>
              <a:srgbClr val="0A7F83"/>
            </a:solidFill>
            <a:prstDash val="solid"/>
          </a:ln>
        </p:spPr>
      </p:sp>
      <p:sp>
        <p:nvSpPr>
          <p:cNvPr id="73" name="candidate-evaluation">
            <a:extLst xmlns:a="http://schemas.openxmlformats.org/drawingml/2006/main">
              <a:ext uri="{FF2B5EF4-FFF2-40B4-BE49-F238E27FC236}">
                <a16:creationId xmlns:a16="http://schemas.microsoft.com/office/drawing/2014/main" id="{5891B3F1-2D12-4F06-97A4-671D7767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096000"/>
            <a:ext cx="9525" cy="742950"/>
          </a:xfrm>
          <a:custGeom xmlns:a="http://schemas.openxmlformats.org/drawingml/2006/main">
            <a:pathLst>
              <a:path w="9525" h="742950">
                <a:moveTo>
                  <a:pt x="0" y="742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A7F83"/>
            </a:solidFill>
            <a:prstDash val="solid"/>
          </a:ln>
        </p:spPr>
      </p:sp>
      <p:sp>
        <p:nvSpPr>
          <p:cNvPr id="74" name="candidate-evaluation-arrow">
            <a:extLst xmlns:a="http://schemas.openxmlformats.org/drawingml/2006/main">
              <a:ext uri="{FF2B5EF4-FFF2-40B4-BE49-F238E27FC236}">
                <a16:creationId xmlns:a16="http://schemas.microsoft.com/office/drawing/2014/main" id="{BA191AFA-8536-4057-A0A9-4E0E49C3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638" y="6096000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0A7F83"/>
          </a:solidFill>
          <a:ln xmlns:a="http://schemas.openxmlformats.org/drawingml/2006/main" w="0">
            <a:solidFill>
              <a:srgbClr val="0A7F83"/>
            </a:solidFill>
            <a:prstDash val="solid"/>
          </a:ln>
        </p:spPr>
      </p:sp>
      <p:sp>
        <p:nvSpPr>
          <p:cNvPr id="75" name="proposals">
            <a:extLst xmlns:a="http://schemas.openxmlformats.org/drawingml/2006/main">
              <a:ext uri="{FF2B5EF4-FFF2-40B4-BE49-F238E27FC236}">
                <a16:creationId xmlns:a16="http://schemas.microsoft.com/office/drawing/2014/main" id="{A416FA90-9BFD-4744-A6B6-988ED781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828800"/>
            <a:ext cx="1314450" cy="5619750"/>
          </a:xfrm>
          <a:custGeom xmlns:a="http://schemas.openxmlformats.org/drawingml/2006/main">
            <a:pathLst>
              <a:path w="1314450" h="5619750">
                <a:moveTo>
                  <a:pt x="0" y="5619750"/>
                </a:moveTo>
                <a:lnTo>
                  <a:pt x="857250" y="5619750"/>
                </a:lnTo>
                <a:lnTo>
                  <a:pt x="857250" y="0"/>
                </a:lnTo>
                <a:lnTo>
                  <a:pt x="131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76" name="proposals-arrow">
            <a:extLst xmlns:a="http://schemas.openxmlformats.org/drawingml/2006/main">
              <a:ext uri="{FF2B5EF4-FFF2-40B4-BE49-F238E27FC236}">
                <a16:creationId xmlns:a16="http://schemas.microsoft.com/office/drawing/2014/main" id="{3B83B39F-4A23-4A49-9628-B1FC5B3B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25" y="1785938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77" name="compare-proposal">
            <a:extLst xmlns:a="http://schemas.openxmlformats.org/drawingml/2006/main">
              <a:ext uri="{FF2B5EF4-FFF2-40B4-BE49-F238E27FC236}">
                <a16:creationId xmlns:a16="http://schemas.microsoft.com/office/drawing/2014/main" id="{2D59064C-2D36-4BDC-BA3A-E631A2D7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133600"/>
            <a:ext cx="9525" cy="342900"/>
          </a:xfrm>
          <a:custGeom xmlns:a="http://schemas.openxmlformats.org/drawingml/2006/main"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78" name="compare-proposal-arrow">
            <a:extLst xmlns:a="http://schemas.openxmlformats.org/drawingml/2006/main">
              <a:ext uri="{FF2B5EF4-FFF2-40B4-BE49-F238E27FC236}">
                <a16:creationId xmlns:a16="http://schemas.microsoft.com/office/drawing/2014/main" id="{D2EEB051-1C54-4329-A95E-8617CD84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138" y="239077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79" name="review">
            <a:extLst xmlns:a="http://schemas.openxmlformats.org/drawingml/2006/main">
              <a:ext uri="{FF2B5EF4-FFF2-40B4-BE49-F238E27FC236}">
                <a16:creationId xmlns:a16="http://schemas.microsoft.com/office/drawing/2014/main" id="{62B922FC-4848-4DEA-89C8-38D0F3D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3086100"/>
            <a:ext cx="9525" cy="342900"/>
          </a:xfrm>
          <a:custGeom xmlns:a="http://schemas.openxmlformats.org/drawingml/2006/main"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80" name="review-arrow">
            <a:extLst xmlns:a="http://schemas.openxmlformats.org/drawingml/2006/main">
              <a:ext uri="{FF2B5EF4-FFF2-40B4-BE49-F238E27FC236}">
                <a16:creationId xmlns:a16="http://schemas.microsoft.com/office/drawing/2014/main" id="{3F4B97ED-9AF0-4EED-BB41-AD7C36E4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138" y="334327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81" name="approve">
            <a:extLst xmlns:a="http://schemas.openxmlformats.org/drawingml/2006/main">
              <a:ext uri="{FF2B5EF4-FFF2-40B4-BE49-F238E27FC236}">
                <a16:creationId xmlns:a16="http://schemas.microsoft.com/office/drawing/2014/main" id="{33DACF69-050D-4015-AAFD-0C275B80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4038600"/>
            <a:ext cx="9525" cy="342900"/>
          </a:xfrm>
          <a:custGeom xmlns:a="http://schemas.openxmlformats.org/drawingml/2006/main"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82" name="approve-arrow">
            <a:extLst xmlns:a="http://schemas.openxmlformats.org/drawingml/2006/main">
              <a:ext uri="{FF2B5EF4-FFF2-40B4-BE49-F238E27FC236}">
                <a16:creationId xmlns:a16="http://schemas.microsoft.com/office/drawing/2014/main" id="{E1B845E5-A47F-4FF6-BD62-C9B2B32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138" y="429577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83" name="authorize">
            <a:extLst xmlns:a="http://schemas.openxmlformats.org/drawingml/2006/main">
              <a:ext uri="{FF2B5EF4-FFF2-40B4-BE49-F238E27FC236}">
                <a16:creationId xmlns:a16="http://schemas.microsoft.com/office/drawing/2014/main" id="{51140B36-F05B-4B46-9033-56D8BF3C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4991100"/>
            <a:ext cx="9525" cy="1143000"/>
          </a:xfrm>
          <a:custGeom xmlns:a="http://schemas.openxmlformats.org/drawingml/2006/main"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84" name="authorize-arrow">
            <a:extLst xmlns:a="http://schemas.openxmlformats.org/drawingml/2006/main">
              <a:ext uri="{FF2B5EF4-FFF2-40B4-BE49-F238E27FC236}">
                <a16:creationId xmlns:a16="http://schemas.microsoft.com/office/drawing/2014/main" id="{1F5F6B32-2F25-45DB-8E6E-DAE94EB9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138" y="604837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85" name="reserved-dispatch">
            <a:extLst xmlns:a="http://schemas.openxmlformats.org/drawingml/2006/main">
              <a:ext uri="{FF2B5EF4-FFF2-40B4-BE49-F238E27FC236}">
                <a16:creationId xmlns:a16="http://schemas.microsoft.com/office/drawing/2014/main" id="{EB9937FE-DEFF-4D42-BC11-4F27A4F5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7038975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86" name="reserved-dispatch-arrow">
            <a:extLst xmlns:a="http://schemas.openxmlformats.org/drawingml/2006/main">
              <a:ext uri="{FF2B5EF4-FFF2-40B4-BE49-F238E27FC236}">
                <a16:creationId xmlns:a16="http://schemas.microsoft.com/office/drawing/2014/main" id="{C1CAAC9E-99A6-4205-8FDA-34E74E97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138" y="709612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87" name="dispatch-exceptions">
            <a:extLst xmlns:a="http://schemas.openxmlformats.org/drawingml/2006/main">
              <a:ext uri="{FF2B5EF4-FFF2-40B4-BE49-F238E27FC236}">
                <a16:creationId xmlns:a16="http://schemas.microsoft.com/office/drawing/2014/main" id="{8BE404BF-94B1-458F-A0D7-006F40E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7581900"/>
            <a:ext cx="9525" cy="142875"/>
          </a:xfrm>
          <a:custGeom xmlns:a="http://schemas.openxmlformats.org/drawingml/2006/main"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88" name="dispatch-exceptions-arrow">
            <a:extLst xmlns:a="http://schemas.openxmlformats.org/drawingml/2006/main">
              <a:ext uri="{FF2B5EF4-FFF2-40B4-BE49-F238E27FC236}">
                <a16:creationId xmlns:a16="http://schemas.microsoft.com/office/drawing/2014/main" id="{DB2F9E3F-20D8-416B-82F3-C80B647B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0138" y="7639050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85725"/>
                </a:moveTo>
                <a:lnTo>
                  <a:pt x="0" y="0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2163A0"/>
          </a:solidFill>
          <a:ln xmlns:a="http://schemas.openxmlformats.org/drawingml/2006/main" w="0">
            <a:solidFill>
              <a:srgbClr val="2163A0"/>
            </a:solidFill>
            <a:prstDash val="solid"/>
          </a:ln>
        </p:spPr>
      </p:sp>
      <p:sp>
        <p:nvSpPr>
          <p:cNvPr id="89" name="verification-return">
            <a:extLst xmlns:a="http://schemas.openxmlformats.org/drawingml/2006/main">
              <a:ext uri="{FF2B5EF4-FFF2-40B4-BE49-F238E27FC236}">
                <a16:creationId xmlns:a16="http://schemas.microsoft.com/office/drawing/2014/main" id="{99748F20-A90B-47D6-A09C-E0251A1D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05600"/>
            <a:ext cx="7219950" cy="2009775"/>
          </a:xfrm>
          <a:custGeom xmlns:a="http://schemas.openxmlformats.org/drawingml/2006/main">
            <a:pathLst>
              <a:path w="7219950" h="2009775">
                <a:moveTo>
                  <a:pt x="7219950" y="552450"/>
                </a:moveTo>
                <a:lnTo>
                  <a:pt x="7219950" y="0"/>
                </a:lnTo>
                <a:lnTo>
                  <a:pt x="1771650" y="0"/>
                </a:lnTo>
                <a:lnTo>
                  <a:pt x="1771650" y="2009775"/>
                </a:lnTo>
                <a:lnTo>
                  <a:pt x="0" y="2009775"/>
                </a:lnTo>
                <a:lnTo>
                  <a:pt x="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A7F83"/>
            </a:solidFill>
            <a:prstDash val="dash"/>
          </a:ln>
        </p:spPr>
      </p:sp>
      <p:sp>
        <p:nvSpPr>
          <p:cNvPr id="90" name="verification-return-arrow">
            <a:extLst xmlns:a="http://schemas.openxmlformats.org/drawingml/2006/main">
              <a:ext uri="{FF2B5EF4-FFF2-40B4-BE49-F238E27FC236}">
                <a16:creationId xmlns:a16="http://schemas.microsoft.com/office/drawing/2014/main" id="{859EB38B-94FC-417E-8F23-495B5384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8086725"/>
            <a:ext cx="85725" cy="85725"/>
          </a:xfrm>
          <a:custGeom xmlns:a="http://schemas.openxmlformats.org/drawingml/2006/main">
            <a:pathLst>
              <a:path w="85725" h="85725">
                <a:moveTo>
                  <a:pt x="42863" y="0"/>
                </a:moveTo>
                <a:lnTo>
                  <a:pt x="85725" y="85725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0A7F83"/>
          </a:solidFill>
          <a:ln xmlns:a="http://schemas.openxmlformats.org/drawingml/2006/main" w="0">
            <a:solidFill>
              <a:srgbClr val="0A7F83"/>
            </a:solidFill>
            <a:prstDash val="solid"/>
          </a:ln>
        </p:spPr>
      </p:sp>
      <p:sp>
        <p:nvSpPr>
          <p:cNvPr id="91" name="execution-feedback">
            <a:extLst xmlns:a="http://schemas.openxmlformats.org/drawingml/2006/main">
              <a:ext uri="{FF2B5EF4-FFF2-40B4-BE49-F238E27FC236}">
                <a16:creationId xmlns:a16="http://schemas.microsoft.com/office/drawing/2014/main" id="{500E8992-D373-4F21-B967-0135EB2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828800"/>
            <a:ext cx="2857500" cy="6915150"/>
          </a:xfrm>
          <a:custGeom xmlns:a="http://schemas.openxmlformats.org/drawingml/2006/main">
            <a:pathLst>
              <a:path w="2857500" h="6915150">
                <a:moveTo>
                  <a:pt x="2857500" y="6610350"/>
                </a:moveTo>
                <a:lnTo>
                  <a:pt x="2857500" y="6915150"/>
                </a:lnTo>
                <a:lnTo>
                  <a:pt x="514350" y="6915150"/>
                </a:lnTo>
                <a:lnTo>
                  <a:pt x="51435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A7F83"/>
            </a:solidFill>
            <a:prstDash val="dash"/>
          </a:ln>
        </p:spPr>
      </p:sp>
      <p:sp>
        <p:nvSpPr>
          <p:cNvPr id="92" name="execution-feedback-arrow">
            <a:extLst xmlns:a="http://schemas.openxmlformats.org/drawingml/2006/main">
              <a:ext uri="{FF2B5EF4-FFF2-40B4-BE49-F238E27FC236}">
                <a16:creationId xmlns:a16="http://schemas.microsoft.com/office/drawing/2014/main" id="{608C3D40-77AA-478D-A8D4-7ADAF40C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785938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42863"/>
                </a:moveTo>
                <a:lnTo>
                  <a:pt x="85725" y="0"/>
                </a:lnTo>
                <a:lnTo>
                  <a:pt x="85725" y="85725"/>
                </a:lnTo>
                <a:close/>
              </a:path>
            </a:pathLst>
          </a:custGeom>
          <a:solidFill xmlns:a="http://schemas.openxmlformats.org/drawingml/2006/main">
            <a:srgbClr val="0A7F83"/>
          </a:solidFill>
          <a:ln xmlns:a="http://schemas.openxmlformats.org/drawingml/2006/main" w="0">
            <a:solidFill>
              <a:srgbClr val="0A7F83"/>
            </a:solidFill>
            <a:prstDash val="solid"/>
          </a:ln>
        </p:spPr>
      </p:sp>
      <p:sp>
        <p:nvSpPr>
          <p:cNvPr id="93" name="persist-logistics">
            <a:extLst xmlns:a="http://schemas.openxmlformats.org/drawingml/2006/main">
              <a:ext uri="{FF2B5EF4-FFF2-40B4-BE49-F238E27FC236}">
                <a16:creationId xmlns:a16="http://schemas.microsoft.com/office/drawing/2014/main" id="{47F82F7A-8A84-4B68-8824-6289BF10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43150"/>
            <a:ext cx="209550" cy="7162800"/>
          </a:xfrm>
          <a:custGeom xmlns:a="http://schemas.openxmlformats.org/drawingml/2006/main">
            <a:pathLst>
              <a:path w="209550" h="7162800">
                <a:moveTo>
                  <a:pt x="0" y="0"/>
                </a:moveTo>
                <a:lnTo>
                  <a:pt x="209550" y="0"/>
                </a:lnTo>
                <a:lnTo>
                  <a:pt x="209550" y="7162800"/>
                </a:lnTo>
                <a:lnTo>
                  <a:pt x="19050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B9CAB"/>
            </a:solidFill>
            <a:prstDash val="dash"/>
          </a:ln>
        </p:spPr>
      </p:sp>
      <p:sp>
        <p:nvSpPr>
          <p:cNvPr id="94" name="persist-logistics-arrow">
            <a:extLst xmlns:a="http://schemas.openxmlformats.org/drawingml/2006/main">
              <a:ext uri="{FF2B5EF4-FFF2-40B4-BE49-F238E27FC236}">
                <a16:creationId xmlns:a16="http://schemas.microsoft.com/office/drawing/2014/main" id="{C73F2DED-F943-449B-9E4B-B7C7533C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463088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42863"/>
                </a:moveTo>
                <a:lnTo>
                  <a:pt x="85725" y="0"/>
                </a:lnTo>
                <a:lnTo>
                  <a:pt x="85725" y="85725"/>
                </a:lnTo>
                <a:close/>
              </a:path>
            </a:pathLst>
          </a:custGeom>
          <a:solidFill xmlns:a="http://schemas.openxmlformats.org/drawingml/2006/main">
            <a:srgbClr val="8B9CAB"/>
          </a:solidFill>
          <a:ln xmlns:a="http://schemas.openxmlformats.org/drawingml/2006/main" w="0">
            <a:solidFill>
              <a:srgbClr val="8B9CAB"/>
            </a:solidFill>
            <a:prstDash val="solid"/>
          </a:ln>
        </p:spPr>
      </p:sp>
      <p:sp>
        <p:nvSpPr>
          <p:cNvPr id="95" name="persist-plans">
            <a:extLst xmlns:a="http://schemas.openxmlformats.org/drawingml/2006/main">
              <a:ext uri="{FF2B5EF4-FFF2-40B4-BE49-F238E27FC236}">
                <a16:creationId xmlns:a16="http://schemas.microsoft.com/office/drawing/2014/main" id="{2CA4F1BE-1348-4E80-8363-5E1754C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2695575"/>
            <a:ext cx="104775" cy="6810375"/>
          </a:xfrm>
          <a:custGeom xmlns:a="http://schemas.openxmlformats.org/drawingml/2006/main">
            <a:pathLst>
              <a:path w="104775" h="6810375">
                <a:moveTo>
                  <a:pt x="0" y="0"/>
                </a:moveTo>
                <a:lnTo>
                  <a:pt x="104775" y="0"/>
                </a:lnTo>
                <a:lnTo>
                  <a:pt x="104775" y="6810375"/>
                </a:lnTo>
                <a:lnTo>
                  <a:pt x="0" y="6810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B9CAB"/>
            </a:solidFill>
            <a:prstDash val="dash"/>
          </a:ln>
        </p:spPr>
      </p:sp>
      <p:sp>
        <p:nvSpPr>
          <p:cNvPr id="96" name="persist-plans-arrow">
            <a:extLst xmlns:a="http://schemas.openxmlformats.org/drawingml/2006/main">
              <a:ext uri="{FF2B5EF4-FFF2-40B4-BE49-F238E27FC236}">
                <a16:creationId xmlns:a16="http://schemas.microsoft.com/office/drawing/2014/main" id="{D7B57064-BEEA-46C6-A7EC-267680E0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0" y="9463088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42863"/>
                </a:moveTo>
                <a:lnTo>
                  <a:pt x="85725" y="0"/>
                </a:lnTo>
                <a:lnTo>
                  <a:pt x="85725" y="85725"/>
                </a:lnTo>
                <a:close/>
              </a:path>
            </a:pathLst>
          </a:custGeom>
          <a:solidFill xmlns:a="http://schemas.openxmlformats.org/drawingml/2006/main">
            <a:srgbClr val="8B9CAB"/>
          </a:solidFill>
          <a:ln xmlns:a="http://schemas.openxmlformats.org/drawingml/2006/main" w="0">
            <a:solidFill>
              <a:srgbClr val="8B9CAB"/>
            </a:solidFill>
            <a:prstDash val="solid"/>
          </a:ln>
        </p:spPr>
      </p:sp>
      <p:sp>
        <p:nvSpPr>
          <p:cNvPr id="97" name="fuel-power">
            <a:extLst xmlns:a="http://schemas.openxmlformats.org/drawingml/2006/main">
              <a:ext uri="{FF2B5EF4-FFF2-40B4-BE49-F238E27FC236}">
                <a16:creationId xmlns:a16="http://schemas.microsoft.com/office/drawing/2014/main" id="{6DBB434A-749C-4CEB-9CDE-8081D4E8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95975"/>
            <a:ext cx="466725" cy="9525"/>
          </a:xfrm>
          <a:custGeom xmlns:a="http://schemas.openxmlformats.org/drawingml/2006/main"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B9CAB"/>
            </a:solidFill>
            <a:prstDash val="solid"/>
          </a:ln>
        </p:spPr>
      </p:sp>
      <p:sp>
        <p:nvSpPr>
          <p:cNvPr id="98" name="fuel-power-arrow">
            <a:extLst xmlns:a="http://schemas.openxmlformats.org/drawingml/2006/main">
              <a:ext uri="{FF2B5EF4-FFF2-40B4-BE49-F238E27FC236}">
                <a16:creationId xmlns:a16="http://schemas.microsoft.com/office/drawing/2014/main" id="{38CEAEBC-94C2-48C5-AE75-362C9F34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853113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9CAB"/>
          </a:solidFill>
          <a:ln xmlns:a="http://schemas.openxmlformats.org/drawingml/2006/main" w="0">
            <a:solidFill>
              <a:srgbClr val="8B9CAB"/>
            </a:solidFill>
            <a:prstDash val="solid"/>
          </a:ln>
        </p:spPr>
      </p:sp>
      <p:sp>
        <p:nvSpPr>
          <p:cNvPr id="99" name="power-cold">
            <a:extLst xmlns:a="http://schemas.openxmlformats.org/drawingml/2006/main">
              <a:ext uri="{FF2B5EF4-FFF2-40B4-BE49-F238E27FC236}">
                <a16:creationId xmlns:a16="http://schemas.microsoft.com/office/drawing/2014/main" id="{DFE1801F-4C02-4193-8185-8C2C67FA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895975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B9CAB"/>
            </a:solidFill>
            <a:prstDash val="solid"/>
          </a:ln>
        </p:spPr>
      </p:sp>
      <p:sp>
        <p:nvSpPr>
          <p:cNvPr id="100" name="power-cold-arrow">
            <a:extLst xmlns:a="http://schemas.openxmlformats.org/drawingml/2006/main">
              <a:ext uri="{FF2B5EF4-FFF2-40B4-BE49-F238E27FC236}">
                <a16:creationId xmlns:a16="http://schemas.microsoft.com/office/drawing/2014/main" id="{7A6E7982-9F43-44A3-AAB3-8F9D7C6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853113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9CAB"/>
          </a:solidFill>
          <a:ln xmlns:a="http://schemas.openxmlformats.org/drawingml/2006/main" w="0">
            <a:solidFill>
              <a:srgbClr val="8B9CAB"/>
            </a:solidFill>
            <a:prstDash val="solid"/>
          </a:ln>
        </p:spPr>
      </p:sp>
      <p:sp>
        <p:nvSpPr>
          <p:cNvPr id="101" name="legend-solid">
            <a:extLst xmlns:a="http://schemas.openxmlformats.org/drawingml/2006/main">
              <a:ext uri="{FF2B5EF4-FFF2-40B4-BE49-F238E27FC236}">
                <a16:creationId xmlns:a16="http://schemas.microsoft.com/office/drawing/2014/main" id="{0E187C66-D32D-44D7-B708-1D38931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477375"/>
            <a:ext cx="466725" cy="9525"/>
          </a:xfrm>
          <a:custGeom xmlns:a="http://schemas.openxmlformats.org/drawingml/2006/main"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A0"/>
            </a:solidFill>
            <a:prstDash val="solid"/>
          </a:ln>
        </p:spPr>
      </p:sp>
      <p:sp>
        <p:nvSpPr>
          <p:cNvPr id="102" name="legend-events">
            <a:extLst xmlns:a="http://schemas.openxmlformats.org/drawingml/2006/main">
              <a:ext uri="{FF2B5EF4-FFF2-40B4-BE49-F238E27FC236}">
                <a16:creationId xmlns:a16="http://schemas.microsoft.com/office/drawing/2014/main" id="{2EED8F5A-285F-4C3A-8977-22680567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772650"/>
            <a:ext cx="466725" cy="9525"/>
          </a:xfrm>
          <a:custGeom xmlns:a="http://schemas.openxmlformats.org/drawingml/2006/main"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A7F83"/>
            </a:solidFill>
            <a:prstDash val="dash"/>
          </a:ln>
        </p:spPr>
      </p:sp>
      <p:sp>
        <p:nvSpPr>
          <p:cNvPr id="103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9508A781-39DB-4406-A334-DBFF24CF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048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Data sources</a:t>
            </a:r>
          </a:p>
        </p:txBody>
      </p:sp>
      <p:sp>
        <p:nvSpPr>
          <p:cNvPr id="104" name="source-stock-label">
            <a:extLst xmlns:a="http://schemas.openxmlformats.org/drawingml/2006/main">
              <a:ext uri="{FF2B5EF4-FFF2-40B4-BE49-F238E27FC236}">
                <a16:creationId xmlns:a16="http://schemas.microsoft.com/office/drawing/2014/main" id="{00824467-0F1C-47C8-A8AF-39C571B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4425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Inventory &amp;</a:t>
            </a:r>
          </a:p>
          <a:p xmlns:a="http://schemas.openxmlformats.org/drawingml/2006/main">
            <a: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consumption</a:t>
            </a:r>
          </a:p>
        </p:txBody>
      </p:sp>
      <p:sp>
        <p:nvSpPr>
          <p:cNvPr id="105" name="source-supplier-label">
            <a:extLst xmlns:a="http://schemas.openxmlformats.org/drawingml/2006/main">
              <a:ext uri="{FF2B5EF4-FFF2-40B4-BE49-F238E27FC236}">
                <a16:creationId xmlns:a16="http://schemas.microsoft.com/office/drawing/2014/main" id="{560E97F6-1447-4851-8731-85421960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47875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Suppliers &amp;</a:t>
            </a:r>
          </a:p>
          <a:p xmlns:a="http://schemas.openxmlformats.org/drawingml/2006/main">
            <a: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depots</a:t>
            </a:r>
          </a:p>
        </p:txBody>
      </p:sp>
      <p:sp>
        <p:nvSpPr>
          <p:cNvPr id="106" name="source-fleet-label">
            <a:extLst xmlns:a="http://schemas.openxmlformats.org/drawingml/2006/main">
              <a:ext uri="{FF2B5EF4-FFF2-40B4-BE49-F238E27FC236}">
                <a16:creationId xmlns:a16="http://schemas.microsoft.com/office/drawing/2014/main" id="{DF8BF2D0-434D-4D21-BA97-34953EB4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81325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Fleet &amp; transport</a:t>
            </a:r>
          </a:p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capacity</a:t>
            </a:r>
          </a:p>
        </p:txBody>
      </p:sp>
      <p:sp>
        <p:nvSpPr>
          <p:cNvPr id="107" name="source-gis-label">
            <a:extLst xmlns:a="http://schemas.openxmlformats.org/drawingml/2006/main">
              <a:ext uri="{FF2B5EF4-FFF2-40B4-BE49-F238E27FC236}">
                <a16:creationId xmlns:a16="http://schemas.microsoft.com/office/drawing/2014/main" id="{635D2149-A589-47AA-A4D9-587DC597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14775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GIS, weather &amp;</a:t>
            </a:r>
          </a:p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route reports</a:t>
            </a:r>
          </a:p>
        </p:txBody>
      </p:sp>
      <p:sp>
        <p:nvSpPr>
          <p:cNvPr id="108" name="source-service-label">
            <a:extLst xmlns:a="http://schemas.openxmlformats.org/drawingml/2006/main">
              <a:ext uri="{FF2B5EF4-FFF2-40B4-BE49-F238E27FC236}">
                <a16:creationId xmlns:a16="http://schemas.microsoft.com/office/drawing/2014/main" id="{8CBB6830-FAA4-4D73-99B6-4E4FAD0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48225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Service needs &amp;</a:t>
            </a:r>
          </a:p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priorities</a:t>
            </a:r>
          </a:p>
        </p:txBody>
      </p:sp>
      <p:sp>
        <p:nvSpPr>
          <p:cNvPr id="109" name="gateway-heading">
            <a:extLst xmlns:a="http://schemas.openxmlformats.org/drawingml/2006/main">
              <a:ext uri="{FF2B5EF4-FFF2-40B4-BE49-F238E27FC236}">
                <a16:creationId xmlns:a16="http://schemas.microsoft.com/office/drawing/2014/main" id="{EB66E0AB-7FCF-411D-8DA4-02BB9B08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838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Field gateway</a:t>
            </a:r>
          </a:p>
        </p:txBody>
      </p:sp>
      <p:sp>
        <p:nvSpPr>
          <p:cNvPr id="110" name="gateway-detail">
            <a:extLst xmlns:a="http://schemas.openxmlformats.org/drawingml/2006/main">
              <a:ext uri="{FF2B5EF4-FFF2-40B4-BE49-F238E27FC236}">
                <a16:creationId xmlns:a16="http://schemas.microsoft.com/office/drawing/2014/main" id="{3BB46C19-98FE-4B0C-A366-1D8F2F8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191375"/>
            <a:ext cx="1981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Offline capture</a:t>
            </a:r>
          </a:p>
          <a:p xmlns:a="http://schemas.openxmlformats.org/drawingml/2006/main">
            <a: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Sync &amp; verification</a:t>
            </a:r>
          </a:p>
        </p:txBody>
      </p:sp>
      <p:sp>
        <p:nvSpPr>
          <p:cNvPr id="111" name="platform-heading">
            <a:extLst xmlns:a="http://schemas.openxmlformats.org/drawingml/2006/main">
              <a:ext uri="{FF2B5EF4-FFF2-40B4-BE49-F238E27FC236}">
                <a16:creationId xmlns:a16="http://schemas.microsoft.com/office/drawing/2014/main" id="{F607A8F9-4C80-4FC1-9731-3DA3D932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Predictive logistics platform</a:t>
            </a:r>
          </a:p>
        </p:txBody>
      </p:sp>
      <p:sp>
        <p:nvSpPr>
          <p:cNvPr id="112" name="integration-heading">
            <a:extLst xmlns:a="http://schemas.openxmlformats.org/drawingml/2006/main">
              <a:ext uri="{FF2B5EF4-FFF2-40B4-BE49-F238E27FC236}">
                <a16:creationId xmlns:a16="http://schemas.microsoft.com/office/drawing/2014/main" id="{9FA71B2D-0525-45D5-8ECA-50F7BB29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9144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Integration &amp; data assurance</a:t>
            </a:r>
          </a:p>
        </p:txBody>
      </p:sp>
      <p:sp>
        <p:nvSpPr>
          <p:cNvPr id="113" name="adapters-label">
            <a:extLst xmlns:a="http://schemas.openxmlformats.org/drawingml/2006/main">
              <a:ext uri="{FF2B5EF4-FFF2-40B4-BE49-F238E27FC236}">
                <a16:creationId xmlns:a16="http://schemas.microsoft.com/office/drawing/2014/main" id="{D5416B5A-67B2-4CC3-9729-850CEBE2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26682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Adapters &amp; validation</a:t>
            </a:r>
          </a:p>
        </p:txBody>
      </p:sp>
      <p:sp>
        <p:nvSpPr>
          <p:cNvPr id="114" name="provenance-label">
            <a:extLst xmlns:a="http://schemas.openxmlformats.org/drawingml/2006/main">
              <a:ext uri="{FF2B5EF4-FFF2-40B4-BE49-F238E27FC236}">
                <a16:creationId xmlns:a16="http://schemas.microsoft.com/office/drawing/2014/main" id="{29AE6B05-95FD-447F-B917-9080DDFC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335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Timestamps &amp; provenance</a:t>
            </a:r>
          </a:p>
        </p:txBody>
      </p:sp>
      <p:sp>
        <p:nvSpPr>
          <p:cNvPr id="115" name="conflicts-label">
            <a:extLst xmlns:a="http://schemas.openxmlformats.org/drawingml/2006/main">
              <a:ext uri="{FF2B5EF4-FFF2-40B4-BE49-F238E27FC236}">
                <a16:creationId xmlns:a16="http://schemas.microsoft.com/office/drawing/2014/main" id="{43D05DFE-76C7-48DB-AC6B-B10983A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027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Deduplication &amp; conflict checks</a:t>
            </a:r>
          </a:p>
        </p:txBody>
      </p:sp>
      <p:sp>
        <p:nvSpPr>
          <p:cNvPr id="116" name="state-heading">
            <a:extLst xmlns:a="http://schemas.openxmlformats.org/drawingml/2006/main">
              <a:ext uri="{FF2B5EF4-FFF2-40B4-BE49-F238E27FC236}">
                <a16:creationId xmlns:a16="http://schemas.microsoft.com/office/drawing/2014/main" id="{996D1603-4485-4941-8872-08C08481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144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Logistics state service</a:t>
            </a:r>
          </a:p>
        </p:txBody>
      </p:sp>
      <p:sp>
        <p:nvSpPr>
          <p:cNvPr id="117" name="state-stock-label">
            <a:extLst xmlns:a="http://schemas.openxmlformats.org/drawingml/2006/main">
              <a:ext uri="{FF2B5EF4-FFF2-40B4-BE49-F238E27FC236}">
                <a16:creationId xmlns:a16="http://schemas.microsoft.com/office/drawing/2014/main" id="{C668D733-17B2-4F1C-8CD0-177E99BC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266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Available &amp;</a:t>
            </a:r>
          </a:p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reserved stock</a:t>
            </a:r>
          </a:p>
        </p:txBody>
      </p:sp>
      <p:sp>
        <p:nvSpPr>
          <p:cNvPr id="118" name="state-arrivals-label">
            <a:extLst xmlns:a="http://schemas.openxmlformats.org/drawingml/2006/main">
              <a:ext uri="{FF2B5EF4-FFF2-40B4-BE49-F238E27FC236}">
                <a16:creationId xmlns:a16="http://schemas.microsoft.com/office/drawing/2014/main" id="{D240967F-F685-48E3-B310-97F4F09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266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In-transit supplies</a:t>
            </a:r>
          </a:p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&amp; expected arrivals</a:t>
            </a:r>
          </a:p>
        </p:txBody>
      </p:sp>
      <p:sp>
        <p:nvSpPr>
          <p:cNvPr id="119" name="state-network-label">
            <a:extLst xmlns:a="http://schemas.openxmlformats.org/drawingml/2006/main">
              <a:ext uri="{FF2B5EF4-FFF2-40B4-BE49-F238E27FC236}">
                <a16:creationId xmlns:a16="http://schemas.microsoft.com/office/drawing/2014/main" id="{919D4C54-02FC-4DA9-86F3-7B4E9804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335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Fleet &amp; network</a:t>
            </a:r>
          </a:p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conditions</a:t>
            </a:r>
          </a:p>
        </p:txBody>
      </p:sp>
      <p:sp>
        <p:nvSpPr>
          <p:cNvPr id="120" name="state-confidence-label">
            <a:extLst xmlns:a="http://schemas.openxmlformats.org/drawingml/2006/main">
              <a:ext uri="{FF2B5EF4-FFF2-40B4-BE49-F238E27FC236}">
                <a16:creationId xmlns:a16="http://schemas.microsoft.com/office/drawing/2014/main" id="{31B7C28C-B52F-40A9-9A76-39E6CFAF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9335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Versioned state</a:t>
            </a:r>
          </a:p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&amp; confidence</a:t>
            </a:r>
          </a:p>
        </p:txBody>
      </p:sp>
      <p:sp>
        <p:nvSpPr>
          <p:cNvPr id="121" name="backbone-label">
            <a:extLst xmlns:a="http://schemas.openxmlformats.org/drawingml/2006/main">
              <a:ext uri="{FF2B5EF4-FFF2-40B4-BE49-F238E27FC236}">
                <a16:creationId xmlns:a16="http://schemas.microsoft.com/office/drawing/2014/main" id="{561A5B73-C7DF-42F0-95FC-B768D64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9677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Event &amp; reassessment backbone</a:t>
            </a:r>
          </a:p>
        </p:txBody>
      </p:sp>
      <p:sp>
        <p:nvSpPr>
          <p:cNvPr id="122" name="prediction-heading">
            <a:extLst xmlns:a="http://schemas.openxmlformats.org/drawingml/2006/main">
              <a:ext uri="{FF2B5EF4-FFF2-40B4-BE49-F238E27FC236}">
                <a16:creationId xmlns:a16="http://schemas.microsoft.com/office/drawing/2014/main" id="{923F6E6F-8595-450D-B4E7-079EB01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386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Predictive intelligence</a:t>
            </a:r>
          </a:p>
        </p:txBody>
      </p:sp>
      <p:sp>
        <p:nvSpPr>
          <p:cNvPr id="123" name="forecast-demand-label">
            <a:extLst xmlns:a="http://schemas.openxmlformats.org/drawingml/2006/main">
              <a:ext uri="{FF2B5EF4-FFF2-40B4-BE49-F238E27FC236}">
                <a16:creationId xmlns:a16="http://schemas.microsoft.com/office/drawing/2014/main" id="{1BF506BD-313B-4575-B30C-53EAD11D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71975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Demand forecasts</a:t>
            </a:r>
          </a:p>
        </p:txBody>
      </p:sp>
      <p:sp>
        <p:nvSpPr>
          <p:cNvPr id="124" name="forecast-access-label">
            <a:extLst xmlns:a="http://schemas.openxmlformats.org/drawingml/2006/main">
              <a:ext uri="{FF2B5EF4-FFF2-40B4-BE49-F238E27FC236}">
                <a16:creationId xmlns:a16="http://schemas.microsoft.com/office/drawing/2014/main" id="{96499825-2F9C-46FE-B800-DDCABFD7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05375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Access &amp; lead-time forecasts</a:t>
            </a:r>
          </a:p>
        </p:txBody>
      </p:sp>
      <p:sp>
        <p:nvSpPr>
          <p:cNvPr id="125" name="forecast-uncertainty-label">
            <a:extLst xmlns:a="http://schemas.openxmlformats.org/drawingml/2006/main">
              <a:ext uri="{FF2B5EF4-FFF2-40B4-BE49-F238E27FC236}">
                <a16:creationId xmlns:a16="http://schemas.microsoft.com/office/drawing/2014/main" id="{8E544D9E-C11B-4AB0-B5AA-72D3CE35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38775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Uncertainty scenarios</a:t>
            </a:r>
          </a:p>
        </p:txBody>
      </p:sp>
      <p:sp>
        <p:nvSpPr>
          <p:cNvPr id="126" name="scenario-heading">
            <a:extLst xmlns:a="http://schemas.openxmlformats.org/drawingml/2006/main">
              <a:ext uri="{FF2B5EF4-FFF2-40B4-BE49-F238E27FC236}">
                <a16:creationId xmlns:a16="http://schemas.microsoft.com/office/drawing/2014/main" id="{BB2E24DD-8A15-4DD7-8654-CBFF930F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860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Network &amp; scenario engine</a:t>
            </a:r>
          </a:p>
        </p:txBody>
      </p:sp>
      <p:sp>
        <p:nvSpPr>
          <p:cNvPr id="127" name="dependencies-label">
            <a:extLst xmlns:a="http://schemas.openxmlformats.org/drawingml/2006/main">
              <a:ext uri="{FF2B5EF4-FFF2-40B4-BE49-F238E27FC236}">
                <a16:creationId xmlns:a16="http://schemas.microsoft.com/office/drawing/2014/main" id="{B5F067B4-84D7-4536-81F7-8D3B252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71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Multi-tier</a:t>
            </a:r>
          </a:p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dependencies</a:t>
            </a:r>
          </a:p>
        </p:txBody>
      </p:sp>
      <p:sp>
        <p:nvSpPr>
          <p:cNvPr id="128" name="propagation-label">
            <a:extLst xmlns:a="http://schemas.openxmlformats.org/drawingml/2006/main">
              <a:ext uri="{FF2B5EF4-FFF2-40B4-BE49-F238E27FC236}">
                <a16:creationId xmlns:a16="http://schemas.microsoft.com/office/drawing/2014/main" id="{99683BC8-DC77-410B-9020-13FAA9DC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719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13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Criticality &amp;</a:t>
            </a:r>
          </a:p>
          <a:p xmlns:a="http://schemas.openxmlformats.org/drawingml/2006/main">
            <a:pPr algn="ctr">
              <a:defRPr sz="1313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disruption propagation</a:t>
            </a:r>
          </a:p>
        </p:txBody>
      </p:sp>
      <p:sp>
        <p:nvSpPr>
          <p:cNvPr id="129" name="endurance-label">
            <a:extLst xmlns:a="http://schemas.openxmlformats.org/drawingml/2006/main">
              <a:ext uri="{FF2B5EF4-FFF2-40B4-BE49-F238E27FC236}">
                <a16:creationId xmlns:a16="http://schemas.microsoft.com/office/drawing/2014/main" id="{7F857DC3-7A5A-43B1-B3F5-1D2BE4EF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006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Service endurance</a:t>
            </a:r>
          </a:p>
        </p:txBody>
      </p:sp>
      <p:sp>
        <p:nvSpPr>
          <p:cNvPr id="130" name="stress-label">
            <a:extLst xmlns:a="http://schemas.openxmlformats.org/drawingml/2006/main">
              <a:ext uri="{FF2B5EF4-FFF2-40B4-BE49-F238E27FC236}">
                <a16:creationId xmlns:a16="http://schemas.microsoft.com/office/drawing/2014/main" id="{A8794E92-0EFD-42AE-B180-C98F6EE9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0006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Compound-disruption</a:t>
            </a:r>
          </a:p>
          <a:p xmlns:a="http://schemas.openxmlformats.org/drawingml/2006/main">
            <a: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simulation</a:t>
            </a:r>
          </a:p>
        </p:txBody>
      </p:sp>
      <p:sp>
        <p:nvSpPr>
          <p:cNvPr id="131" name="dependency-example-label">
            <a:extLst xmlns:a="http://schemas.openxmlformats.org/drawingml/2006/main">
              <a:ext uri="{FF2B5EF4-FFF2-40B4-BE49-F238E27FC236}">
                <a16:creationId xmlns:a16="http://schemas.microsoft.com/office/drawing/2014/main" id="{3BAE7C49-9A15-4131-AFEE-7FBA5679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149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Service dependency example</a:t>
            </a:r>
          </a:p>
        </p:txBody>
      </p:sp>
      <p:sp>
        <p:nvSpPr>
          <p:cNvPr id="132" name="fuel-label">
            <a:extLst xmlns:a="http://schemas.openxmlformats.org/drawingml/2006/main">
              <a:ext uri="{FF2B5EF4-FFF2-40B4-BE49-F238E27FC236}">
                <a16:creationId xmlns:a16="http://schemas.microsoft.com/office/drawing/2014/main" id="{3D277774-4404-4EA5-BAB0-7C77540A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977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Fuel</a:t>
            </a:r>
          </a:p>
        </p:txBody>
      </p:sp>
      <p:sp>
        <p:nvSpPr>
          <p:cNvPr id="133" name="power-label">
            <a:extLst xmlns:a="http://schemas.openxmlformats.org/drawingml/2006/main">
              <a:ext uri="{FF2B5EF4-FFF2-40B4-BE49-F238E27FC236}">
                <a16:creationId xmlns:a16="http://schemas.microsoft.com/office/drawing/2014/main" id="{CD8D1E69-786C-4BF9-B244-BAC8DE6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81977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Power</a:t>
            </a:r>
          </a:p>
        </p:txBody>
      </p:sp>
      <p:sp>
        <p:nvSpPr>
          <p:cNvPr id="134" name="cold-label">
            <a:extLst xmlns:a="http://schemas.openxmlformats.org/drawingml/2006/main">
              <a:ext uri="{FF2B5EF4-FFF2-40B4-BE49-F238E27FC236}">
                <a16:creationId xmlns:a16="http://schemas.microsoft.com/office/drawing/2014/main" id="{E7BC8783-442E-4EC2-9C5C-FA94E837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5819775"/>
            <a:ext cx="1247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Cold storage</a:t>
            </a:r>
          </a:p>
        </p:txBody>
      </p:sp>
      <p:sp>
        <p:nvSpPr>
          <p:cNvPr id="135" name="decision-heading">
            <a:extLst xmlns:a="http://schemas.openxmlformats.org/drawingml/2006/main">
              <a:ext uri="{FF2B5EF4-FFF2-40B4-BE49-F238E27FC236}">
                <a16:creationId xmlns:a16="http://schemas.microsoft.com/office/drawing/2014/main" id="{FD81395B-FDCD-4B9A-AF8D-3AF2AAEA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972300"/>
            <a:ext cx="960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Decision engine</a:t>
            </a:r>
          </a:p>
        </p:txBody>
      </p:sp>
      <p:sp>
        <p:nvSpPr>
          <p:cNvPr id="136" name="resupply-heading">
            <a:extLst xmlns:a="http://schemas.openxmlformats.org/drawingml/2006/main">
              <a:ext uri="{FF2B5EF4-FFF2-40B4-BE49-F238E27FC236}">
                <a16:creationId xmlns:a16="http://schemas.microsoft.com/office/drawing/2014/main" id="{7BC58AAD-4E74-406C-A347-BC66A31A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315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6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6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36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Resupply &amp; reserve optimizer</a:t>
            </a:r>
          </a:p>
        </p:txBody>
      </p:sp>
      <p:sp>
        <p:nvSpPr>
          <p:cNvPr id="137" name="resupply-detail">
            <a:extLst xmlns:a="http://schemas.openxmlformats.org/drawingml/2006/main">
              <a:ext uri="{FF2B5EF4-FFF2-40B4-BE49-F238E27FC236}">
                <a16:creationId xmlns:a16="http://schemas.microsoft.com/office/drawing/2014/main" id="{BE97481A-C88C-40BF-9009-3D99A9C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620000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Resupply windows &amp; reserve levels</a:t>
            </a:r>
          </a:p>
          <a:p xmlns:a="http://schemas.openxmlformats.org/drawingml/2006/main">
            <a: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Sources, allocation &amp; transport</a:t>
            </a:r>
          </a:p>
        </p:txBody>
      </p:sp>
      <p:sp>
        <p:nvSpPr>
          <p:cNvPr id="138" name="verification-heading">
            <a:extLst xmlns:a="http://schemas.openxmlformats.org/drawingml/2006/main">
              <a:ext uri="{FF2B5EF4-FFF2-40B4-BE49-F238E27FC236}">
                <a16:creationId xmlns:a16="http://schemas.microsoft.com/office/drawing/2014/main" id="{998CA452-F388-4610-9D0C-A9016CFF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315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Verification planner</a:t>
            </a:r>
          </a:p>
        </p:txBody>
      </p:sp>
      <p:sp>
        <p:nvSpPr>
          <p:cNvPr id="139" name="verification-detail">
            <a:extLst xmlns:a="http://schemas.openxmlformats.org/drawingml/2006/main">
              <a:ext uri="{FF2B5EF4-FFF2-40B4-BE49-F238E27FC236}">
                <a16:creationId xmlns:a16="http://schemas.microsoft.com/office/drawing/2014/main" id="{F90DE0F9-BCEE-4B08-99CD-3754EF22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620000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Decision-critical uncertainty</a:t>
            </a:r>
          </a:p>
          <a:p xmlns:a="http://schemas.openxmlformats.org/drawingml/2006/main">
            <a: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Priority field verification</a:t>
            </a:r>
          </a:p>
        </p:txBody>
      </p:sp>
      <p:sp>
        <p:nvSpPr>
          <p:cNvPr id="140" name="recovery-heading">
            <a:extLst xmlns:a="http://schemas.openxmlformats.org/drawingml/2006/main">
              <a:ext uri="{FF2B5EF4-FFF2-40B4-BE49-F238E27FC236}">
                <a16:creationId xmlns:a16="http://schemas.microsoft.com/office/drawing/2014/main" id="{B9CC47CC-CE36-4050-81C1-EDB18BFD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315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Recovery optimizer</a:t>
            </a:r>
          </a:p>
        </p:txBody>
      </p:sp>
      <p:sp>
        <p:nvSpPr>
          <p:cNvPr id="141" name="recovery-detail">
            <a:extLst xmlns:a="http://schemas.openxmlformats.org/drawingml/2006/main">
              <a:ext uri="{FF2B5EF4-FFF2-40B4-BE49-F238E27FC236}">
                <a16:creationId xmlns:a16="http://schemas.microsoft.com/office/drawing/2014/main" id="{7E8B0C18-D1D9-4A9F-B32F-70C35A37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00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Service target &amp; allowed resources</a:t>
            </a:r>
          </a:p>
          <a:p xmlns:a="http://schemas.openxmlformats.org/drawingml/2006/main">
            <a:pPr algn="ctr">
              <a:def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Minimum additional support</a:t>
            </a:r>
          </a:p>
        </p:txBody>
      </p:sp>
      <p:sp>
        <p:nvSpPr>
          <p:cNvPr id="142" name="constraints">
            <a:extLst xmlns:a="http://schemas.openxmlformats.org/drawingml/2006/main">
              <a:ext uri="{FF2B5EF4-FFF2-40B4-BE49-F238E27FC236}">
                <a16:creationId xmlns:a16="http://schemas.microsoft.com/office/drawing/2014/main" id="{A2466533-2C7C-42D0-8B0D-BDA623D1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8115300"/>
            <a:ext cx="960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Shared constraints: stock, capacity, access and service priorities</a:t>
            </a:r>
          </a:p>
        </p:txBody>
      </p:sp>
      <p:sp>
        <p:nvSpPr>
          <p:cNvPr id="143" name="replan-note">
            <a:extLst xmlns:a="http://schemas.openxmlformats.org/drawingml/2006/main">
              <a:ext uri="{FF2B5EF4-FFF2-40B4-BE49-F238E27FC236}">
                <a16:creationId xmlns:a16="http://schemas.microsoft.com/office/drawing/2014/main" id="{F2785AD2-E114-41A7-A5A9-0D22EB32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8420100"/>
            <a:ext cx="960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Replanning retains completed and committed work</a:t>
            </a:r>
          </a:p>
        </p:txBody>
      </p:sp>
      <p:sp>
        <p:nvSpPr>
          <p:cNvPr id="144" name="plan-heading">
            <a:extLst xmlns:a="http://schemas.openxmlformats.org/drawingml/2006/main">
              <a:ext uri="{FF2B5EF4-FFF2-40B4-BE49-F238E27FC236}">
                <a16:creationId xmlns:a16="http://schemas.microsoft.com/office/drawing/2014/main" id="{5A32F86A-F454-4F18-9B88-21EAFEFE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733425"/>
            <a:ext cx="308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Plan management</a:t>
            </a:r>
          </a:p>
          <a:p xmlns:a="http://schemas.openxmlformats.org/drawingml/2006/main">
            <a:pPr algn="l">
              <a:def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&amp; operator control</a:t>
            </a:r>
          </a:p>
        </p:txBody>
      </p:sp>
      <p:sp>
        <p:nvSpPr>
          <p:cNvPr id="145" name="proposal-label">
            <a:extLst xmlns:a="http://schemas.openxmlformats.org/drawingml/2006/main">
              <a:ext uri="{FF2B5EF4-FFF2-40B4-BE49-F238E27FC236}">
                <a16:creationId xmlns:a16="http://schemas.microsoft.com/office/drawing/2014/main" id="{97B119E0-0CEC-4B6D-84FA-29F4079A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1571625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Versioned proposals</a:t>
            </a:r>
          </a:p>
        </p:txBody>
      </p:sp>
      <p:sp>
        <p:nvSpPr>
          <p:cNvPr id="146" name="compare-label">
            <a:extLst xmlns:a="http://schemas.openxmlformats.org/drawingml/2006/main">
              <a:ext uri="{FF2B5EF4-FFF2-40B4-BE49-F238E27FC236}">
                <a16:creationId xmlns:a16="http://schemas.microsoft.com/office/drawing/2014/main" id="{DEDB98FC-C300-4B56-AD2F-E4D9764E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2524125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Compare scenarios</a:t>
            </a:r>
          </a:p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&amp; explanations</a:t>
            </a:r>
          </a:p>
        </p:txBody>
      </p:sp>
      <p:sp>
        <p:nvSpPr>
          <p:cNvPr id="147" name="approval-label">
            <a:extLst xmlns:a="http://schemas.openxmlformats.org/drawingml/2006/main">
              <a:ext uri="{FF2B5EF4-FFF2-40B4-BE49-F238E27FC236}">
                <a16:creationId xmlns:a16="http://schemas.microsoft.com/office/drawing/2014/main" id="{70C29C1B-25DA-4CBA-B6BF-DEB7F84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476625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Operator review</a:t>
            </a:r>
          </a:p>
          <a:p xmlns:a="http://schemas.openxmlformats.org/drawingml/2006/main">
            <a:pPr algn="ctr">
              <a:def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&amp; approval</a:t>
            </a:r>
          </a:p>
        </p:txBody>
      </p:sp>
      <p:sp>
        <p:nvSpPr>
          <p:cNvPr id="148" name="approved-label">
            <a:extLst xmlns:a="http://schemas.openxmlformats.org/drawingml/2006/main">
              <a:ext uri="{FF2B5EF4-FFF2-40B4-BE49-F238E27FC236}">
                <a16:creationId xmlns:a16="http://schemas.microsoft.com/office/drawing/2014/main" id="{CB8D0DB4-E4A0-48D5-97A8-4772E50E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4429125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Approved plan</a:t>
            </a:r>
          </a:p>
        </p:txBody>
      </p:sp>
      <p:sp>
        <p:nvSpPr>
          <p:cNvPr id="149" name="execution-heading">
            <a:extLst xmlns:a="http://schemas.openxmlformats.org/drawingml/2006/main">
              <a:ext uri="{FF2B5EF4-FFF2-40B4-BE49-F238E27FC236}">
                <a16:creationId xmlns:a16="http://schemas.microsoft.com/office/drawing/2014/main" id="{DA5A1CB1-670B-46F5-A20E-BCEA168B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62674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324F"/>
                </a:solidFill>
                <a:latin typeface="DejaVu Sans"/>
                <a:ea typeface="DejaVu Sans"/>
                <a:cs typeface="DejaVu Sans"/>
              </a:rPr>
              <a:t>Execution &amp; monitoring</a:t>
            </a:r>
          </a:p>
        </p:txBody>
      </p:sp>
      <p:sp>
        <p:nvSpPr>
          <p:cNvPr id="150" name="reserve-label">
            <a:extLst xmlns:a="http://schemas.openxmlformats.org/drawingml/2006/main">
              <a:ext uri="{FF2B5EF4-FFF2-40B4-BE49-F238E27FC236}">
                <a16:creationId xmlns:a16="http://schemas.microsoft.com/office/drawing/2014/main" id="{009DD3BC-63FD-4E16-B341-D7BC6CCC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66865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Revalidate &amp; reserve stock</a:t>
            </a:r>
          </a:p>
        </p:txBody>
      </p:sp>
      <p:sp>
        <p:nvSpPr>
          <p:cNvPr id="151" name="dispatch-label">
            <a:extLst xmlns:a="http://schemas.openxmlformats.org/drawingml/2006/main">
              <a:ext uri="{FF2B5EF4-FFF2-40B4-BE49-F238E27FC236}">
                <a16:creationId xmlns:a16="http://schemas.microsoft.com/office/drawing/2014/main" id="{0E029A79-65F6-42AB-BDF0-56BC5E17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722947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Dispatch &amp; receipt tracking</a:t>
            </a:r>
          </a:p>
        </p:txBody>
      </p:sp>
      <p:sp>
        <p:nvSpPr>
          <p:cNvPr id="152" name="exceptions-label">
            <a:extLst xmlns:a="http://schemas.openxmlformats.org/drawingml/2006/main">
              <a:ext uri="{FF2B5EF4-FFF2-40B4-BE49-F238E27FC236}">
                <a16:creationId xmlns:a16="http://schemas.microsoft.com/office/drawing/2014/main" id="{16467F34-1244-4F58-82C8-1B476855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77724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Exceptions &amp; delivery updates</a:t>
            </a:r>
          </a:p>
        </p:txBody>
      </p:sp>
      <p:sp>
        <p:nvSpPr>
          <p:cNvPr id="153" name="execution-note">
            <a:extLst xmlns:a="http://schemas.openxmlformats.org/drawingml/2006/main">
              <a:ext uri="{FF2B5EF4-FFF2-40B4-BE49-F238E27FC236}">
                <a16:creationId xmlns:a16="http://schemas.microsoft.com/office/drawing/2014/main" id="{B6FEC466-19B4-4541-900B-4C45828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8181975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Only approved plans execute</a:t>
            </a:r>
          </a:p>
        </p:txBody>
      </p:sp>
      <p:sp>
        <p:nvSpPr>
          <p:cNvPr id="154" name="operational-store-title">
            <a:extLst xmlns:a="http://schemas.openxmlformats.org/drawingml/2006/main">
              <a:ext uri="{FF2B5EF4-FFF2-40B4-BE49-F238E27FC236}">
                <a16:creationId xmlns:a16="http://schemas.microsoft.com/office/drawing/2014/main" id="{5C7F95E8-B678-413D-B7DF-56A5AC4D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9172575"/>
            <a:ext cx="1019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LOGISTICS DATA</a:t>
            </a:r>
          </a:p>
        </p:txBody>
      </p:sp>
      <p:sp>
        <p:nvSpPr>
          <p:cNvPr id="155" name="plan-store-title">
            <a:extLst xmlns:a="http://schemas.openxmlformats.org/drawingml/2006/main">
              <a:ext uri="{FF2B5EF4-FFF2-40B4-BE49-F238E27FC236}">
                <a16:creationId xmlns:a16="http://schemas.microsoft.com/office/drawing/2014/main" id="{5E0A8A96-ADD8-4999-8C58-31D1B3B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9172575"/>
            <a:ext cx="3086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PLAN DATA</a:t>
            </a:r>
          </a:p>
        </p:txBody>
      </p:sp>
      <p:sp>
        <p:nvSpPr>
          <p:cNvPr id="156" name="ledger-label">
            <a:extLst xmlns:a="http://schemas.openxmlformats.org/drawingml/2006/main">
              <a:ext uri="{FF2B5EF4-FFF2-40B4-BE49-F238E27FC236}">
                <a16:creationId xmlns:a16="http://schemas.microsoft.com/office/drawing/2014/main" id="{945DF3AC-2EE8-4996-B327-8B54B79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9448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Inventory &amp; event ledger</a:t>
            </a:r>
          </a:p>
        </p:txBody>
      </p:sp>
      <p:sp>
        <p:nvSpPr>
          <p:cNvPr id="157" name="spatial-label">
            <a:extLst xmlns:a="http://schemas.openxmlformats.org/drawingml/2006/main">
              <a:ext uri="{FF2B5EF4-FFF2-40B4-BE49-F238E27FC236}">
                <a16:creationId xmlns:a16="http://schemas.microsoft.com/office/drawing/2014/main" id="{13B3D631-C872-47E8-9A25-AA01A1F5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4488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Spatial &amp; dependency data</a:t>
            </a:r>
          </a:p>
        </p:txBody>
      </p:sp>
      <p:sp>
        <p:nvSpPr>
          <p:cNvPr id="158" name="history-label">
            <a:extLst xmlns:a="http://schemas.openxmlformats.org/drawingml/2006/main">
              <a:ext uri="{FF2B5EF4-FFF2-40B4-BE49-F238E27FC236}">
                <a16:creationId xmlns:a16="http://schemas.microsoft.com/office/drawing/2014/main" id="{34A3ECE7-3785-4EE9-A80D-27FB4DD8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94488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Observation history</a:t>
            </a:r>
          </a:p>
        </p:txBody>
      </p:sp>
      <p:sp>
        <p:nvSpPr>
          <p:cNvPr id="159" name="plan-history-label">
            <a:extLst xmlns:a="http://schemas.openxmlformats.org/drawingml/2006/main">
              <a:ext uri="{FF2B5EF4-FFF2-40B4-BE49-F238E27FC236}">
                <a16:creationId xmlns:a16="http://schemas.microsoft.com/office/drawing/2014/main" id="{B2C2BAC6-1530-4B21-A7BB-80394CAF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94488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0364D"/>
                </a:solidFill>
                <a:latin typeface="DejaVu Sans"/>
                <a:ea typeface="DejaVu Sans"/>
                <a:cs typeface="DejaVu Sans"/>
              </a:rPr>
              <a:t>Plan &amp; decision history</a:t>
            </a:r>
          </a:p>
        </p:txBody>
      </p:sp>
      <p:sp>
        <p:nvSpPr>
          <p:cNvPr id="160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72774DE0-4A8B-4178-959C-BCFDE1CA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086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CONNECTIONS</a:t>
            </a:r>
          </a:p>
        </p:txBody>
      </p:sp>
      <p:sp>
        <p:nvSpPr>
          <p:cNvPr id="161" name="legend-solid-label">
            <a:extLst xmlns:a="http://schemas.openxmlformats.org/drawingml/2006/main">
              <a:ext uri="{FF2B5EF4-FFF2-40B4-BE49-F238E27FC236}">
                <a16:creationId xmlns:a16="http://schemas.microsoft.com/office/drawing/2014/main" id="{164EEC08-BF31-43A1-9652-DD9B9F4D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3726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Data &amp; plans</a:t>
            </a:r>
          </a:p>
        </p:txBody>
      </p:sp>
      <p:sp>
        <p:nvSpPr>
          <p:cNvPr id="162" name="legend-event-label">
            <a:extLst xmlns:a="http://schemas.openxmlformats.org/drawingml/2006/main">
              <a:ext uri="{FF2B5EF4-FFF2-40B4-BE49-F238E27FC236}">
                <a16:creationId xmlns:a16="http://schemas.microsoft.com/office/drawing/2014/main" id="{4A94D81A-E8E9-4C45-A2B9-04F5CE19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9667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Events &amp; feedback</a:t>
            </a:r>
          </a:p>
        </p:txBody>
      </p:sp>
      <p:sp>
        <p:nvSpPr>
          <p:cNvPr id="163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A50A32F0-3097-44E8-95C0-15B8281D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0001250"/>
            <a:ext cx="1455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697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97F"/>
                </a:solidFill>
                <a:latin typeface="DejaVu Sans"/>
                <a:ea typeface="DejaVu Sans"/>
                <a:cs typeface="DejaVu Sans"/>
              </a:rPr>
              <a:t>Role-based access     Encryption &amp; audit     Offline reconciliation     Private deployment</a:t>
            </a:r>
          </a:p>
        </p:txBody>
      </p:sp>
      <p:sp>
        <p:nvSpPr>
          <p:cNvPr id="164" name="source-adapters-label">
            <a:extLst xmlns:a="http://schemas.openxmlformats.org/drawingml/2006/main">
              <a:ext uri="{FF2B5EF4-FFF2-40B4-BE49-F238E27FC236}">
                <a16:creationId xmlns:a16="http://schemas.microsoft.com/office/drawing/2014/main" id="{0E5E1172-8F7F-496B-87DC-6234346C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190625"/>
            <a:ext cx="95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Source</a:t>
            </a:r>
          </a:p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adapters</a:t>
            </a:r>
          </a:p>
        </p:txBody>
      </p:sp>
      <p:sp>
        <p:nvSpPr>
          <p:cNvPr id="165" name="field-capture-label">
            <a:extLst xmlns:a="http://schemas.openxmlformats.org/drawingml/2006/main">
              <a:ext uri="{FF2B5EF4-FFF2-40B4-BE49-F238E27FC236}">
                <a16:creationId xmlns:a16="http://schemas.microsoft.com/office/drawing/2014/main" id="{4DED8A7C-243C-47B1-A6D4-5589CDDA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29350"/>
            <a:ext cx="1133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Field reports</a:t>
            </a:r>
          </a:p>
        </p:txBody>
      </p:sp>
      <p:sp>
        <p:nvSpPr>
          <p:cNvPr id="166" name="field-sync-label">
            <a:extLst xmlns:a="http://schemas.openxmlformats.org/drawingml/2006/main">
              <a:ext uri="{FF2B5EF4-FFF2-40B4-BE49-F238E27FC236}">
                <a16:creationId xmlns:a16="http://schemas.microsoft.com/office/drawing/2014/main" id="{C193EA3E-AAC0-4A11-8F1F-2BFDEAA6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219825"/>
            <a:ext cx="57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Field</a:t>
            </a:r>
          </a:p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sync</a:t>
            </a:r>
          </a:p>
        </p:txBody>
      </p:sp>
      <p:sp>
        <p:nvSpPr>
          <p:cNvPr id="167" name="validated-events-label">
            <a:extLst xmlns:a="http://schemas.openxmlformats.org/drawingml/2006/main">
              <a:ext uri="{FF2B5EF4-FFF2-40B4-BE49-F238E27FC236}">
                <a16:creationId xmlns:a16="http://schemas.microsoft.com/office/drawing/2014/main" id="{2D2699AB-F9FF-45C0-965F-CBAE1796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200150"/>
            <a:ext cx="9239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Validated</a:t>
            </a:r>
          </a:p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events</a:t>
            </a:r>
          </a:p>
        </p:txBody>
      </p:sp>
      <p:sp>
        <p:nvSpPr>
          <p:cNvPr id="168" name="state-changes-label">
            <a:extLst xmlns:a="http://schemas.openxmlformats.org/drawingml/2006/main">
              <a:ext uri="{FF2B5EF4-FFF2-40B4-BE49-F238E27FC236}">
                <a16:creationId xmlns:a16="http://schemas.microsoft.com/office/drawing/2014/main" id="{7F05A102-0B04-41EE-B896-1DA31911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67652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4749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4749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49D"/>
                </a:solidFill>
                <a:latin typeface="DejaVu Sans"/>
                <a:ea typeface="DejaVu Sans"/>
                <a:cs typeface="DejaVu Sans"/>
              </a:rPr>
              <a:t>State changes</a:t>
            </a:r>
          </a:p>
        </p:txBody>
      </p:sp>
      <p:sp>
        <p:nvSpPr>
          <p:cNvPr id="169" name="prediction-state-label">
            <a:extLst xmlns:a="http://schemas.openxmlformats.org/drawingml/2006/main">
              <a:ext uri="{FF2B5EF4-FFF2-40B4-BE49-F238E27FC236}">
                <a16:creationId xmlns:a16="http://schemas.microsoft.com/office/drawing/2014/main" id="{9112AF2A-792F-4655-817F-855EA320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419475"/>
            <a:ext cx="14954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History &amp; state</a:t>
            </a:r>
          </a:p>
        </p:txBody>
      </p:sp>
      <p:sp>
        <p:nvSpPr>
          <p:cNvPr id="170" name="scenario-state-label">
            <a:extLst xmlns:a="http://schemas.openxmlformats.org/drawingml/2006/main">
              <a:ext uri="{FF2B5EF4-FFF2-40B4-BE49-F238E27FC236}">
                <a16:creationId xmlns:a16="http://schemas.microsoft.com/office/drawing/2014/main" id="{5D66D9B7-63B0-4ACD-BBD1-DBF8CBBF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419475"/>
            <a:ext cx="2152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Network &amp; resources</a:t>
            </a:r>
          </a:p>
        </p:txBody>
      </p:sp>
      <p:sp>
        <p:nvSpPr>
          <p:cNvPr id="171" name="reassessment-label">
            <a:extLst xmlns:a="http://schemas.openxmlformats.org/drawingml/2006/main">
              <a:ext uri="{FF2B5EF4-FFF2-40B4-BE49-F238E27FC236}">
                <a16:creationId xmlns:a16="http://schemas.microsoft.com/office/drawing/2014/main" id="{E596B5D1-108E-43E5-A6F9-3D529108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57600"/>
            <a:ext cx="933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4749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4749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49D"/>
                </a:solidFill>
                <a:latin typeface="DejaVu Sans"/>
                <a:ea typeface="DejaVu Sans"/>
                <a:cs typeface="DejaVu Sans"/>
              </a:rPr>
              <a:t>Reassess</a:t>
            </a:r>
          </a:p>
        </p:txBody>
      </p:sp>
      <p:sp>
        <p:nvSpPr>
          <p:cNvPr id="172" name="forecast-scenarios-label">
            <a:extLst xmlns:a="http://schemas.openxmlformats.org/drawingml/2006/main">
              <a:ext uri="{FF2B5EF4-FFF2-40B4-BE49-F238E27FC236}">
                <a16:creationId xmlns:a16="http://schemas.microsoft.com/office/drawing/2014/main" id="{D6069951-F61D-49F5-BD30-46FF510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1962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Forecast</a:t>
            </a:r>
          </a:p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scenarios</a:t>
            </a:r>
          </a:p>
        </p:txBody>
      </p:sp>
      <p:sp>
        <p:nvSpPr>
          <p:cNvPr id="173" name="forecast-plan-label">
            <a:extLst xmlns:a="http://schemas.openxmlformats.org/drawingml/2006/main">
              <a:ext uri="{FF2B5EF4-FFF2-40B4-BE49-F238E27FC236}">
                <a16:creationId xmlns:a16="http://schemas.microsoft.com/office/drawing/2014/main" id="{FEB77CC7-AB1F-442B-B51D-059BA6BB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3627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Demand &amp; access</a:t>
            </a:r>
          </a:p>
        </p:txBody>
      </p:sp>
      <p:sp>
        <p:nvSpPr>
          <p:cNvPr id="174" name="scenario-outcome-label">
            <a:extLst xmlns:a="http://schemas.openxmlformats.org/drawingml/2006/main">
              <a:ext uri="{FF2B5EF4-FFF2-40B4-BE49-F238E27FC236}">
                <a16:creationId xmlns:a16="http://schemas.microsoft.com/office/drawing/2014/main" id="{738F3560-DA48-47E9-984B-50CA2BE4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19825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rPr>
              <a:t>Simulated outcomes</a:t>
            </a:r>
          </a:p>
        </p:txBody>
      </p:sp>
      <p:sp>
        <p:nvSpPr>
          <p:cNvPr id="175" name="candidate-evaluation-label">
            <a:extLst xmlns:a="http://schemas.openxmlformats.org/drawingml/2006/main">
              <a:ext uri="{FF2B5EF4-FFF2-40B4-BE49-F238E27FC236}">
                <a16:creationId xmlns:a16="http://schemas.microsoft.com/office/drawing/2014/main" id="{2EBDBD93-F27A-4041-A88A-5CC73D9D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1457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rPr>
              <a:t>Candidate plans</a:t>
            </a:r>
          </a:p>
        </p:txBody>
      </p:sp>
      <p:sp>
        <p:nvSpPr>
          <p:cNvPr id="176" name="proposals-label">
            <a:extLst xmlns:a="http://schemas.openxmlformats.org/drawingml/2006/main">
              <a:ext uri="{FF2B5EF4-FFF2-40B4-BE49-F238E27FC236}">
                <a16:creationId xmlns:a16="http://schemas.microsoft.com/office/drawing/2014/main" id="{FAE00BF2-01DF-4507-8BC4-6651F6A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3049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Proposals</a:t>
            </a:r>
          </a:p>
        </p:txBody>
      </p:sp>
      <p:sp>
        <p:nvSpPr>
          <p:cNvPr id="177" name="approve-label">
            <a:extLst xmlns:a="http://schemas.openxmlformats.org/drawingml/2006/main">
              <a:ext uri="{FF2B5EF4-FFF2-40B4-BE49-F238E27FC236}">
                <a16:creationId xmlns:a16="http://schemas.microsoft.com/office/drawing/2014/main" id="{DB2B774B-3864-43CC-BEA8-7C0DCBDA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4095750"/>
            <a:ext cx="1076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Approve</a:t>
            </a:r>
          </a:p>
        </p:txBody>
      </p:sp>
      <p:sp>
        <p:nvSpPr>
          <p:cNvPr id="178" name="authorize-label">
            <a:extLst xmlns:a="http://schemas.openxmlformats.org/drawingml/2006/main">
              <a:ext uri="{FF2B5EF4-FFF2-40B4-BE49-F238E27FC236}">
                <a16:creationId xmlns:a16="http://schemas.microsoft.com/office/drawing/2014/main" id="{EE221CE0-E8A9-42A6-AD77-ECD0A552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6825" y="55721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63A0"/>
                </a:solidFill>
                <a:latin typeface="DejaVu Sans"/>
                <a:ea typeface="DejaVu Sans"/>
                <a:cs typeface="DejaVu Sans"/>
              </a:rPr>
              <a:t>Authorize</a:t>
            </a:r>
          </a:p>
        </p:txBody>
      </p:sp>
      <p:sp>
        <p:nvSpPr>
          <p:cNvPr id="179" name="verification-return-label">
            <a:extLst xmlns:a="http://schemas.openxmlformats.org/drawingml/2006/main">
              <a:ext uri="{FF2B5EF4-FFF2-40B4-BE49-F238E27FC236}">
                <a16:creationId xmlns:a16="http://schemas.microsoft.com/office/drawing/2014/main" id="{07CE5EC3-49BB-4523-A4AB-1A2847E0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801100"/>
            <a:ext cx="27146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rPr>
              <a:t>Verification requests</a:t>
            </a:r>
          </a:p>
        </p:txBody>
      </p:sp>
      <p:sp>
        <p:nvSpPr>
          <p:cNvPr id="180" name="execution-feedback-label">
            <a:extLst xmlns:a="http://schemas.openxmlformats.org/drawingml/2006/main">
              <a:ext uri="{FF2B5EF4-FFF2-40B4-BE49-F238E27FC236}">
                <a16:creationId xmlns:a16="http://schemas.microsoft.com/office/drawing/2014/main" id="{C0A857FB-4972-44ED-A6D7-9CA58E6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820150"/>
            <a:ext cx="33432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A7F83"/>
                </a:solidFill>
                <a:latin typeface="DejaVu Sans"/>
                <a:ea typeface="DejaVu Sans"/>
                <a:cs typeface="DejaVu Sans"/>
              </a:rPr>
              <a:t>Actual events update state</a:t>
            </a:r>
          </a:p>
        </p:txBody>
      </p:sp>
    </p:spTree>
    <p:extLst>
      <p:ext uri="{BB962C8B-B14F-4D97-AF65-F5344CB8AC3E}">
        <p14:creationId xmlns:p14="http://schemas.microsoft.com/office/powerpoint/2010/main" val="979263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2026-10-08T16:31:57.5530000Z</dcterms:created>
  <dcterms:modified xsi:type="dcterms:W3CDTF">2026-10-08T16:31:57.5530000Z</dcterms:modified>
</coreProperties>
</file>